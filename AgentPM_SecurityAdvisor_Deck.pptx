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TITLE SLIDE
This is the Cloud Network Security Advisor — Agent 1 of the AgentPM AI portfolio.
Open with: 'I built this agent to automate real work I've been doing for years as a security architect — evaluating cloud environments, identifying gaps, and building hardening roadmaps. Instead of a static deck, this is a live AI tool that generates a tailored security assessment in seconds.'
Key talking point: This maps directly to the VMware Explore session I delivered on VCF Security Hardening, recognized as a top session at VMware Explore Las Vegas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THE PROBLEM
This slide sets up the business context. Security assessments are one of the most time-consuming deliverables in cloud consulting.
Key points:
- A typical security gap analysis takes 2-5 days to complete manually
- Results vary significantly by architect experience
- Customers expect fast, actionable outputs — not weeks of analysis
This is the exact problem I faced delivering NSX security hardening programs at VMware and Broadcom. The Cloud Network Security Advisor automates this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CAPABILITIES
Walk through each capability card briefly. Key message: this is not a simple chatbot — it's a structured analysis engine with six distinct output modules.
Highlight the Excel export — this is what makes it enterprise-ready. A customer can take the output of this agent directly into a project kickoff meeting.
Key quote: 'Every output from this agent maps to a deliverable I've produced manually during security hardening programs at VMware and Broadcom.'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HOW IT WORKS
This slide walks through the 5-step workflow. Keep this explanation to under 60 seconds.
Key message: 'The entire cycle from input to analysis output takes about 15-20 seconds. What used to take a senior architect 2-3 days to document is automated in real time.'
If demoing live, use this slide as a setup before switching to the browser to run the actual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HLD ARCHITECTURE
This is the high-level architecture. Three layers:
1. Presentation Layer — pure HTML/CSS/JavaScript, no build tools, no server. Any recruiter or customer can open it in a browser.
2. Agent Logic Layer — this is where the intelligence lives. The prompt engineering takes the user's inputs and constructs a rich security analysis request enriched with domain expertise.
3. AI &amp; Output Layer — Claude processes the request as a Principal Security Architect and returns structured JSON which is then rendered as color-coded tables and exported to Excel.
Key differentiator: 'Everything runs in the browser. No backend, no server costs, no maintenance. It's a real production tool, not 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LLD ARCHITECTURE
This is the low-level design. Walk left to right:
1. INPUTS — five structured input types. The topology description is freeform text. Everything else is checkboxes and dropdowns that produce clean enumerated values.
2. PROMPT ENGINE — this is where domain expertise is encoded. The role injection ('Principal Security Architect with VMware NSX expertise') and structured JSON schema are the critical components that make the output consistent and high-quality.
3. OUTPUTS — five structured output modules rendered from the JSON response. The brace-detection parser handles markdown-wrapped responses gracefully.
Security note: 'The API key never leaves the user's browser. It's stored in localStorage and sent directly to Anthropic's API — no intermediate server involved.'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SAMPLE OUTPUT
This slide shows what a real analysis output looks like — based on an actual VCF hybrid cloud scenario.
Key points:
- Risk score of 87/100 = Critical. This is not a generic number — it's calculated based on the specific topology, maturity level, and tools.
- Each gap row is color-coded and border-coded by severity
- The recommended action column gives specific, actionable guidance — not generic advice
Talk track: 'This is what a customer sees after describing their environment. In 15 seconds they have a structured gap analysis that would take a consultant 2-3 days to produce manually.'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KEY BENEFITS
This is your value proposition slide. Lead with the 15-second stat.
Talk track: 'What used to require a senior architect, 2-3 days, and a Word document template is now available in 15 seconds with a live URL anyone can access.'
The three benefit cards at the bottom connect the agent directly to real enterprise use cases — this isn't a student project, it's a production-grade tool built on 20+ years of security consulting experience.
If presenting to a technical audience, emphasize the prompt engineering card — the quality of the output is directly tied to the domain expertise encoded in the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DEMO SCENARIOS
Three scenarios pre-loaded in the agent — one for each target audience.
For an interview at Cisco, Nutanix, or any VMware-adjacent company → use Scenario 1 (VCF Private Cloud)
For Nokia, Ericsson, Mavenir, Amdocs, or any telco company → use Scenario 2 (Telco/CSP)
For AWS, Google Cloud, Microsoft, or any GSI → use Scenario 3 (Hybrid Multi-Cloud)
Talk track: 'I built three demo scenarios that directly reflect the types of environments I've worked in across my career. Scenario 1 maps to my work at Broadcom and VMware. Scenario 2 maps to my Nokia and Ericsson engagements. Scenario 3 maps to the hybrid cloud work I led at Dell EMC.'
This is the slide to use before switching to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CLOSING / CTA
Close with confidence. This slide gives the interviewer or recruiter everything they need to try it themselves.
Talk track: 'This is one of four agents in my AgentPM portfolio. The same architecture powers a Cloud Modernization Assessment agent and a Service Assurance Intelligence agent — both built from workflows I've run in real engagements.
I can demo this live right now if you'd like. All you need is a browser.'
Key message: You're not just a candidate with credentials — you're someone who ships working AI tools. That's the differentiator.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danvzla.github.io/agentpm-security-advisor" TargetMode="External"/><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danvzla.github.io/agentpm-security-advisor" TargetMode="External"/><Relationship Id="rId2" Type="http://schemas.openxmlformats.org/officeDocument/2006/relationships/hyperlink" Target="https://www.linkedin.com/in/daniel-mazzini-22059734/" TargetMode="External"/><Relationship Id="rId3" Type="http://schemas.openxmlformats.org/officeDocument/2006/relationships/image" Target="../media/image-10-1.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F6E56"/>
          </a:solidFill>
          <a:ln w="12700">
            <a:solidFill>
              <a:srgbClr val="0F6E56"/>
            </a:solidFill>
            <a:prstDash val="solid"/>
          </a:ln>
        </p:spPr>
      </p:sp>
      <p:sp>
        <p:nvSpPr>
          <p:cNvPr id="3" name="Shape 1"/>
          <p:cNvSpPr/>
          <p:nvPr/>
        </p:nvSpPr>
        <p:spPr>
          <a:xfrm>
            <a:off x="8046720" y="182880"/>
            <a:ext cx="164592" cy="164592"/>
          </a:xfrm>
          <a:prstGeom prst="ellipse">
            <a:avLst/>
          </a:prstGeom>
          <a:solidFill>
            <a:srgbClr val="C9A84C"/>
          </a:solidFill>
          <a:ln w="12700">
            <a:solidFill>
              <a:srgbClr val="C9A84C"/>
            </a:solidFill>
            <a:prstDash val="solid"/>
          </a:ln>
        </p:spPr>
      </p:sp>
      <p:sp>
        <p:nvSpPr>
          <p:cNvPr id="4" name="Shape 2"/>
          <p:cNvSpPr/>
          <p:nvPr/>
        </p:nvSpPr>
        <p:spPr>
          <a:xfrm>
            <a:off x="8321040" y="320040"/>
            <a:ext cx="109728" cy="109728"/>
          </a:xfrm>
          <a:prstGeom prst="ellipse">
            <a:avLst/>
          </a:prstGeom>
          <a:solidFill>
            <a:srgbClr val="1A9070"/>
          </a:solidFill>
          <a:ln w="12700">
            <a:solidFill>
              <a:srgbClr val="1A9070"/>
            </a:solidFill>
            <a:prstDash val="solid"/>
          </a:ln>
        </p:spPr>
      </p:sp>
      <p:sp>
        <p:nvSpPr>
          <p:cNvPr id="5" name="Shape 3"/>
          <p:cNvSpPr/>
          <p:nvPr/>
        </p:nvSpPr>
        <p:spPr>
          <a:xfrm>
            <a:off x="8595360" y="137160"/>
            <a:ext cx="201168" cy="201168"/>
          </a:xfrm>
          <a:prstGeom prst="ellipse">
            <a:avLst/>
          </a:prstGeom>
          <a:solidFill>
            <a:srgbClr val="C9A84C"/>
          </a:solidFill>
          <a:ln w="12700">
            <a:solidFill>
              <a:srgbClr val="C9A84C"/>
            </a:solidFill>
            <a:prstDash val="solid"/>
          </a:ln>
        </p:spPr>
      </p:sp>
      <p:sp>
        <p:nvSpPr>
          <p:cNvPr id="6" name="Shape 4"/>
          <p:cNvSpPr/>
          <p:nvPr/>
        </p:nvSpPr>
        <p:spPr>
          <a:xfrm>
            <a:off x="320040" y="274320"/>
            <a:ext cx="1463040" cy="347472"/>
          </a:xfrm>
          <a:prstGeom prst="rect">
            <a:avLst>
              <a:gd name="adj" fmla="val 13158"/>
            </a:avLst>
          </a:prstGeom>
          <a:solidFill>
            <a:srgbClr val="0F6E56"/>
          </a:solidFill>
          <a:ln w="12700">
            <a:solidFill>
              <a:srgbClr val="0F6E56"/>
            </a:solidFill>
            <a:prstDash val="solid"/>
          </a:ln>
        </p:spPr>
      </p:sp>
      <p:sp>
        <p:nvSpPr>
          <p:cNvPr id="7" name="Text 5"/>
          <p:cNvSpPr/>
          <p:nvPr/>
        </p:nvSpPr>
        <p:spPr>
          <a:xfrm>
            <a:off x="320040" y="274320"/>
            <a:ext cx="1463040" cy="347472"/>
          </a:xfrm>
          <a:prstGeom prst="rect">
            <a:avLst/>
          </a:prstGeom>
          <a:noFill/>
          <a:ln/>
        </p:spPr>
        <p:txBody>
          <a:bodyPr wrap="square" lIns="0" tIns="0" rIns="0" bIns="0" rtlCol="0" anchor="ctr"/>
          <a:lstStyle/>
          <a:p>
            <a:pPr algn="ctr" indent="0" marL="0">
              <a:buNone/>
            </a:pPr>
            <a:r>
              <a:rPr lang="en-US" sz="900" b="1" dirty="0">
                <a:solidFill>
                  <a:srgbClr val="FFFFFF"/>
                </a:solidFill>
              </a:rPr>
              <a:t>AgentPM  ·  Agent 1</a:t>
            </a:r>
            <a:endParaRPr lang="en-US" sz="900" dirty="0"/>
          </a:p>
        </p:txBody>
      </p:sp>
      <p:sp>
        <p:nvSpPr>
          <p:cNvPr id="8" name="Text 6"/>
          <p:cNvSpPr/>
          <p:nvPr/>
        </p:nvSpPr>
        <p:spPr>
          <a:xfrm>
            <a:off x="320040" y="1005840"/>
            <a:ext cx="5943600" cy="2011680"/>
          </a:xfrm>
          <a:prstGeom prst="rect">
            <a:avLst/>
          </a:prstGeom>
          <a:noFill/>
          <a:ln/>
        </p:spPr>
        <p:txBody>
          <a:bodyPr wrap="square" lIns="0" tIns="0" rIns="0" bIns="0" rtlCol="0" anchor="ctr"/>
          <a:lstStyle/>
          <a:p>
            <a:pPr algn="l" indent="0" marL="0">
              <a:buNone/>
            </a:pPr>
            <a:r>
              <a:rPr lang="en-US" sz="4800" b="1" dirty="0">
                <a:solidFill>
                  <a:srgbClr val="FFFFFF"/>
                </a:solidFill>
                <a:latin typeface="Calibri" pitchFamily="34" charset="0"/>
                <a:ea typeface="Calibri" pitchFamily="34" charset="-122"/>
                <a:cs typeface="Calibri" pitchFamily="34" charset="-120"/>
              </a:rPr>
              <a:t>Cloud Network</a:t>
            </a:r>
            <a:endParaRPr lang="en-US" sz="4800" dirty="0"/>
          </a:p>
          <a:p>
            <a:pPr algn="l" indent="0" marL="0">
              <a:buNone/>
            </a:pPr>
            <a:r>
              <a:rPr lang="en-US" sz="4800" b="1" dirty="0">
                <a:solidFill>
                  <a:srgbClr val="FFFFFF"/>
                </a:solidFill>
                <a:latin typeface="Calibri" pitchFamily="34" charset="0"/>
                <a:ea typeface="Calibri" pitchFamily="34" charset="-122"/>
                <a:cs typeface="Calibri" pitchFamily="34" charset="-120"/>
              </a:rPr>
              <a:t>Security Advisor</a:t>
            </a:r>
            <a:endParaRPr lang="en-US" sz="4800" dirty="0"/>
          </a:p>
        </p:txBody>
      </p:sp>
      <p:sp>
        <p:nvSpPr>
          <p:cNvPr id="9" name="Shape 7"/>
          <p:cNvSpPr/>
          <p:nvPr/>
        </p:nvSpPr>
        <p:spPr>
          <a:xfrm>
            <a:off x="320040" y="3063240"/>
            <a:ext cx="2011680" cy="54864"/>
          </a:xfrm>
          <a:prstGeom prst="rect">
            <a:avLst/>
          </a:prstGeom>
          <a:solidFill>
            <a:srgbClr val="C9A84C"/>
          </a:solidFill>
          <a:ln w="12700">
            <a:solidFill>
              <a:srgbClr val="C9A84C"/>
            </a:solidFill>
            <a:prstDash val="solid"/>
          </a:ln>
        </p:spPr>
      </p:sp>
      <p:sp>
        <p:nvSpPr>
          <p:cNvPr id="10" name="Text 8"/>
          <p:cNvSpPr/>
          <p:nvPr/>
        </p:nvSpPr>
        <p:spPr>
          <a:xfrm>
            <a:off x="320040" y="3246120"/>
            <a:ext cx="6400800" cy="731520"/>
          </a:xfrm>
          <a:prstGeom prst="rect">
            <a:avLst/>
          </a:prstGeom>
          <a:noFill/>
          <a:ln/>
        </p:spPr>
        <p:txBody>
          <a:bodyPr wrap="square" lIns="0" tIns="0" rIns="0" bIns="0" rtlCol="0" anchor="ctr"/>
          <a:lstStyle/>
          <a:p>
            <a:pPr algn="l" indent="0" marL="0">
              <a:buNone/>
            </a:pPr>
            <a:r>
              <a:rPr lang="en-US" sz="1500" dirty="0">
                <a:solidFill>
                  <a:srgbClr val="94A3B8"/>
                </a:solidFill>
                <a:latin typeface="Calibri" pitchFamily="34" charset="0"/>
                <a:ea typeface="Calibri" pitchFamily="34" charset="-122"/>
                <a:cs typeface="Calibri" pitchFamily="34" charset="-120"/>
              </a:rPr>
              <a:t>AI-powered security posture analysis · gap detection</a:t>
            </a:r>
            <a:endParaRPr lang="en-US" sz="1500" dirty="0"/>
          </a:p>
          <a:p>
            <a:pPr algn="l" indent="0" marL="0">
              <a:buNone/>
            </a:pPr>
            <a:r>
              <a:rPr lang="en-US" sz="1500" dirty="0">
                <a:solidFill>
                  <a:srgbClr val="94A3B8"/>
                </a:solidFill>
                <a:latin typeface="Calibri" pitchFamily="34" charset="0"/>
                <a:ea typeface="Calibri" pitchFamily="34" charset="-122"/>
                <a:cs typeface="Calibri" pitchFamily="34" charset="-120"/>
              </a:rPr>
              <a:t>hardening recommendations · 90-day action plan</a:t>
            </a:r>
            <a:endParaRPr lang="en-US" sz="1500" dirty="0"/>
          </a:p>
        </p:txBody>
      </p:sp>
      <p:sp>
        <p:nvSpPr>
          <p:cNvPr id="11" name="Text 9">
            <a:hlinkClick r:id="rId1" tooltip=""/>
          </p:cNvPr>
          <p:cNvSpPr/>
          <p:nvPr/>
        </p:nvSpPr>
        <p:spPr>
          <a:xfrm>
            <a:off x="320040" y="4160520"/>
            <a:ext cx="4572000" cy="320040"/>
          </a:xfrm>
          <a:prstGeom prst="rect">
            <a:avLst/>
          </a:prstGeom>
          <a:noFill/>
          <a:ln/>
        </p:spPr>
        <p:txBody>
          <a:bodyPr wrap="square" lIns="0" tIns="0" rIns="0" bIns="0" rtlCol="0" anchor="ctr"/>
          <a:lstStyle/>
          <a:p>
            <a:pPr algn="l" indent="0" marL="0">
              <a:buNone/>
            </a:pPr>
            <a:r>
              <a:rPr lang="en-US" sz="1100" u="sng" dirty="0">
                <a:solidFill>
                  <a:srgbClr val="C9A84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danvzla.github.io/agentpm-security-advisor</a:t>
            </a:r>
            <a:endParaRPr lang="en-US" sz="1100" dirty="0"/>
          </a:p>
        </p:txBody>
      </p:sp>
      <p:pic>
        <p:nvPicPr>
          <p:cNvPr id="12" name="Image 0" descr="preencoded.png">    </p:cNvPr>
          <p:cNvPicPr>
            <a:picLocks noChangeAspect="1"/>
          </p:cNvPicPr>
          <p:nvPr/>
        </p:nvPicPr>
        <p:blipFill>
          <a:blip r:embed="rId2">
            <a:alphaModFix amt="85000"/>
          </a:blip>
          <a:stretch>
            <a:fillRect/>
          </a:stretch>
        </p:blipFill>
        <p:spPr>
          <a:xfrm>
            <a:off x="6583680" y="914400"/>
            <a:ext cx="2286000" cy="2286000"/>
          </a:xfrm>
          <a:prstGeom prst="rect">
            <a:avLst/>
          </a:prstGeom>
        </p:spPr>
      </p:pic>
      <p:sp>
        <p:nvSpPr>
          <p:cNvPr id="13" name="Text 10"/>
          <p:cNvSpPr/>
          <p:nvPr/>
        </p:nvSpPr>
        <p:spPr>
          <a:xfrm>
            <a:off x="320040" y="4800600"/>
            <a:ext cx="6400800" cy="274320"/>
          </a:xfrm>
          <a:prstGeom prst="rect">
            <a:avLst/>
          </a:prstGeom>
          <a:noFill/>
          <a:ln/>
        </p:spPr>
        <p:txBody>
          <a:bodyPr wrap="square" lIns="0" tIns="0" rIns="0" bIns="0" rtlCol="0" anchor="ctr"/>
          <a:lstStyle/>
          <a:p>
            <a:pPr algn="l" indent="0" marL="0">
              <a:buNone/>
            </a:pPr>
            <a:r>
              <a:rPr lang="en-US" sz="1000" dirty="0">
                <a:solidFill>
                  <a:srgbClr val="4A5568"/>
                </a:solidFill>
                <a:latin typeface="Calibri" pitchFamily="34" charset="0"/>
                <a:ea typeface="Calibri" pitchFamily="34" charset="-122"/>
                <a:cs typeface="Calibri" pitchFamily="34" charset="-120"/>
              </a:rPr>
              <a:t>Daniel Mazzini  ·  Principal Architect &amp; Senior TPM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274320"/>
            <a:ext cx="1188720" cy="292608"/>
          </a:xfrm>
          <a:prstGeom prst="rect">
            <a:avLst/>
          </a:prstGeom>
          <a:solidFill>
            <a:srgbClr val="E1F5EE"/>
          </a:solidFill>
          <a:ln w="12700">
            <a:solidFill>
              <a:srgbClr val="E1F5EE"/>
            </a:solidFill>
            <a:prstDash val="solid"/>
          </a:ln>
        </p:spPr>
      </p:sp>
      <p:sp>
        <p:nvSpPr>
          <p:cNvPr id="3" name="Text 1"/>
          <p:cNvSpPr/>
          <p:nvPr/>
        </p:nvSpPr>
        <p:spPr>
          <a:xfrm>
            <a:off x="457200" y="274320"/>
            <a:ext cx="1188720" cy="292608"/>
          </a:xfrm>
          <a:prstGeom prst="rect">
            <a:avLst/>
          </a:prstGeom>
          <a:noFill/>
          <a:ln/>
        </p:spPr>
        <p:txBody>
          <a:bodyPr wrap="square" lIns="0" tIns="0" rIns="0" bIns="0" rtlCol="0" anchor="ctr"/>
          <a:lstStyle/>
          <a:p>
            <a:pPr algn="ctr" indent="0" marL="0">
              <a:buNone/>
            </a:pPr>
            <a:r>
              <a:rPr lang="en-US" sz="800" b="1" spc="150" kern="0" dirty="0">
                <a:solidFill>
                  <a:srgbClr val="0F6E56"/>
                </a:solidFill>
              </a:rPr>
              <a:t>THE PROBLEM</a:t>
            </a:r>
            <a:endParaRPr lang="en-US" sz="800" dirty="0"/>
          </a:p>
        </p:txBody>
      </p:sp>
      <p:sp>
        <p:nvSpPr>
          <p:cNvPr id="4" name="Text 2"/>
          <p:cNvSpPr/>
          <p:nvPr/>
        </p:nvSpPr>
        <p:spPr>
          <a:xfrm>
            <a:off x="457200" y="685800"/>
            <a:ext cx="7772400" cy="1005840"/>
          </a:xfrm>
          <a:prstGeom prst="rect">
            <a:avLst/>
          </a:prstGeom>
          <a:noFill/>
          <a:ln/>
        </p:spPr>
        <p:txBody>
          <a:bodyPr wrap="square" lIns="0" tIns="0" rIns="0" bIns="0" rtlCol="0" anchor="ctr"/>
          <a:lstStyle/>
          <a:p>
            <a:pPr algn="l" indent="0" marL="0">
              <a:buNone/>
            </a:pPr>
            <a:r>
              <a:rPr lang="en-US" sz="3000" b="1" dirty="0">
                <a:solidFill>
                  <a:srgbClr val="0F172A"/>
                </a:solidFill>
                <a:latin typeface="Calibri" pitchFamily="34" charset="0"/>
                <a:ea typeface="Calibri" pitchFamily="34" charset="-122"/>
                <a:cs typeface="Calibri" pitchFamily="34" charset="-120"/>
              </a:rPr>
              <a:t>Security architects face the same</a:t>
            </a:r>
            <a:endParaRPr lang="en-US" sz="3000" dirty="0"/>
          </a:p>
          <a:p>
            <a:pPr algn="l" indent="0" marL="0">
              <a:buNone/>
            </a:pPr>
            <a:r>
              <a:rPr lang="en-US" sz="3000" b="1" dirty="0">
                <a:solidFill>
                  <a:srgbClr val="0F172A"/>
                </a:solidFill>
                <a:latin typeface="Calibri" pitchFamily="34" charset="0"/>
                <a:ea typeface="Calibri" pitchFamily="34" charset="-122"/>
                <a:cs typeface="Calibri" pitchFamily="34" charset="-120"/>
              </a:rPr>
              <a:t>challenges every engagement</a:t>
            </a:r>
            <a:endParaRPr lang="en-US" sz="3000" dirty="0"/>
          </a:p>
        </p:txBody>
      </p:sp>
      <p:sp>
        <p:nvSpPr>
          <p:cNvPr id="5" name="Shape 3"/>
          <p:cNvSpPr/>
          <p:nvPr/>
        </p:nvSpPr>
        <p:spPr>
          <a:xfrm>
            <a:off x="457200" y="1920240"/>
            <a:ext cx="2651760" cy="27432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594360" y="2057400"/>
            <a:ext cx="548640" cy="548640"/>
          </a:xfrm>
          <a:prstGeom prst="ellipse">
            <a:avLst/>
          </a:prstGeom>
          <a:solidFill>
            <a:srgbClr val="FEE2E2"/>
          </a:solidFill>
          <a:ln w="12700">
            <a:solidFill>
              <a:srgbClr val="FEE2E2"/>
            </a:solidFill>
            <a:prstDash val="solid"/>
          </a:ln>
        </p:spPr>
      </p:sp>
      <p:pic>
        <p:nvPicPr>
          <p:cNvPr id="7" name="Image 0" descr="preencoded.png">    </p:cNvPr>
          <p:cNvPicPr>
            <a:picLocks noChangeAspect="1"/>
          </p:cNvPicPr>
          <p:nvPr/>
        </p:nvPicPr>
        <p:blipFill>
          <a:blip r:embed="rId1"/>
          <a:stretch>
            <a:fillRect/>
          </a:stretch>
        </p:blipFill>
        <p:spPr>
          <a:xfrm>
            <a:off x="676656" y="2139696"/>
            <a:ext cx="384048" cy="384048"/>
          </a:xfrm>
          <a:prstGeom prst="rect">
            <a:avLst/>
          </a:prstGeom>
        </p:spPr>
      </p:pic>
      <p:sp>
        <p:nvSpPr>
          <p:cNvPr id="8" name="Text 5"/>
          <p:cNvSpPr/>
          <p:nvPr/>
        </p:nvSpPr>
        <p:spPr>
          <a:xfrm>
            <a:off x="594360" y="2743200"/>
            <a:ext cx="2377440" cy="41148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Manual &amp; time-consuming</a:t>
            </a:r>
            <a:endParaRPr lang="en-US" sz="1400" dirty="0"/>
          </a:p>
        </p:txBody>
      </p:sp>
      <p:sp>
        <p:nvSpPr>
          <p:cNvPr id="9" name="Text 6"/>
          <p:cNvSpPr/>
          <p:nvPr/>
        </p:nvSpPr>
        <p:spPr>
          <a:xfrm>
            <a:off x="594360" y="3200400"/>
            <a:ext cx="2377440" cy="137160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Security gap analysis done manually takes days. Every engagement starts from scratch with no repeatable framework.</a:t>
            </a:r>
            <a:endParaRPr lang="en-US" sz="1100" dirty="0"/>
          </a:p>
        </p:txBody>
      </p:sp>
      <p:sp>
        <p:nvSpPr>
          <p:cNvPr id="10" name="Shape 7"/>
          <p:cNvSpPr/>
          <p:nvPr/>
        </p:nvSpPr>
        <p:spPr>
          <a:xfrm>
            <a:off x="3291840" y="1920240"/>
            <a:ext cx="2651760" cy="27432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1" name="Shape 8"/>
          <p:cNvSpPr/>
          <p:nvPr/>
        </p:nvSpPr>
        <p:spPr>
          <a:xfrm>
            <a:off x="3429000" y="2057400"/>
            <a:ext cx="548640" cy="548640"/>
          </a:xfrm>
          <a:prstGeom prst="ellipse">
            <a:avLst/>
          </a:prstGeom>
          <a:solidFill>
            <a:srgbClr val="FEF3C7"/>
          </a:solidFill>
          <a:ln w="12700">
            <a:solidFill>
              <a:srgbClr val="FEF3C7"/>
            </a:solidFill>
            <a:prstDash val="solid"/>
          </a:ln>
        </p:spPr>
      </p:sp>
      <p:pic>
        <p:nvPicPr>
          <p:cNvPr id="12" name="Image 1" descr="preencoded.png">    </p:cNvPr>
          <p:cNvPicPr>
            <a:picLocks noChangeAspect="1"/>
          </p:cNvPicPr>
          <p:nvPr/>
        </p:nvPicPr>
        <p:blipFill>
          <a:blip r:embed="rId2"/>
          <a:stretch>
            <a:fillRect/>
          </a:stretch>
        </p:blipFill>
        <p:spPr>
          <a:xfrm>
            <a:off x="3511296" y="2139696"/>
            <a:ext cx="384048" cy="384048"/>
          </a:xfrm>
          <a:prstGeom prst="rect">
            <a:avLst/>
          </a:prstGeom>
        </p:spPr>
      </p:pic>
      <p:sp>
        <p:nvSpPr>
          <p:cNvPr id="13" name="Text 9"/>
          <p:cNvSpPr/>
          <p:nvPr/>
        </p:nvSpPr>
        <p:spPr>
          <a:xfrm>
            <a:off x="3429000" y="2743200"/>
            <a:ext cx="2377440" cy="41148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Inconsistent outputs</a:t>
            </a:r>
            <a:endParaRPr lang="en-US" sz="1400" dirty="0"/>
          </a:p>
        </p:txBody>
      </p:sp>
      <p:sp>
        <p:nvSpPr>
          <p:cNvPr id="14" name="Text 10"/>
          <p:cNvSpPr/>
          <p:nvPr/>
        </p:nvSpPr>
        <p:spPr>
          <a:xfrm>
            <a:off x="3429000" y="3200400"/>
            <a:ext cx="2377440" cy="137160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Different architects produce different assessments. No standardized format for gap analysis or hardening recommendations.</a:t>
            </a:r>
            <a:endParaRPr lang="en-US" sz="1100" dirty="0"/>
          </a:p>
        </p:txBody>
      </p:sp>
      <p:sp>
        <p:nvSpPr>
          <p:cNvPr id="15" name="Shape 11"/>
          <p:cNvSpPr/>
          <p:nvPr/>
        </p:nvSpPr>
        <p:spPr>
          <a:xfrm>
            <a:off x="6126480" y="1920240"/>
            <a:ext cx="2651760" cy="27432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6" name="Shape 12"/>
          <p:cNvSpPr/>
          <p:nvPr/>
        </p:nvSpPr>
        <p:spPr>
          <a:xfrm>
            <a:off x="6263640" y="2057400"/>
            <a:ext cx="548640" cy="548640"/>
          </a:xfrm>
          <a:prstGeom prst="ellipse">
            <a:avLst/>
          </a:prstGeom>
          <a:solidFill>
            <a:srgbClr val="DBEAFE"/>
          </a:solidFill>
          <a:ln w="12700">
            <a:solidFill>
              <a:srgbClr val="DBEAFE"/>
            </a:solidFill>
            <a:prstDash val="solid"/>
          </a:ln>
        </p:spPr>
      </p:sp>
      <p:pic>
        <p:nvPicPr>
          <p:cNvPr id="17" name="Image 2" descr="preencoded.png">    </p:cNvPr>
          <p:cNvPicPr>
            <a:picLocks noChangeAspect="1"/>
          </p:cNvPicPr>
          <p:nvPr/>
        </p:nvPicPr>
        <p:blipFill>
          <a:blip r:embed="rId3"/>
          <a:stretch>
            <a:fillRect/>
          </a:stretch>
        </p:blipFill>
        <p:spPr>
          <a:xfrm>
            <a:off x="6345936" y="2139696"/>
            <a:ext cx="384048" cy="384048"/>
          </a:xfrm>
          <a:prstGeom prst="rect">
            <a:avLst/>
          </a:prstGeom>
        </p:spPr>
      </p:pic>
      <p:sp>
        <p:nvSpPr>
          <p:cNvPr id="18" name="Text 13"/>
          <p:cNvSpPr/>
          <p:nvPr/>
        </p:nvSpPr>
        <p:spPr>
          <a:xfrm>
            <a:off x="6263640" y="2743200"/>
            <a:ext cx="2377440" cy="41148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Complex environments</a:t>
            </a:r>
            <a:endParaRPr lang="en-US" sz="1400" dirty="0"/>
          </a:p>
        </p:txBody>
      </p:sp>
      <p:sp>
        <p:nvSpPr>
          <p:cNvPr id="19" name="Text 14"/>
          <p:cNvSpPr/>
          <p:nvPr/>
        </p:nvSpPr>
        <p:spPr>
          <a:xfrm>
            <a:off x="6263640" y="3200400"/>
            <a:ext cx="2377440" cy="137160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VCF, NSX, SASE, hybrid cloud — modern environments are too complex to assess manually with confidence and speed.</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1371600" cy="292608"/>
          </a:xfrm>
          <a:prstGeom prst="rect">
            <a:avLst/>
          </a:prstGeom>
          <a:solidFill>
            <a:srgbClr val="E1F5EE"/>
          </a:solidFill>
          <a:ln w="12700">
            <a:solidFill>
              <a:srgbClr val="E1F5EE"/>
            </a:solidFill>
            <a:prstDash val="solid"/>
          </a:ln>
        </p:spPr>
      </p:sp>
      <p:sp>
        <p:nvSpPr>
          <p:cNvPr id="3" name="Text 1"/>
          <p:cNvSpPr/>
          <p:nvPr/>
        </p:nvSpPr>
        <p:spPr>
          <a:xfrm>
            <a:off x="457200" y="274320"/>
            <a:ext cx="1371600" cy="292608"/>
          </a:xfrm>
          <a:prstGeom prst="rect">
            <a:avLst/>
          </a:prstGeom>
          <a:noFill/>
          <a:ln/>
        </p:spPr>
        <p:txBody>
          <a:bodyPr wrap="square" lIns="0" tIns="0" rIns="0" bIns="0" rtlCol="0" anchor="ctr"/>
          <a:lstStyle/>
          <a:p>
            <a:pPr algn="ctr" indent="0" marL="0">
              <a:buNone/>
            </a:pPr>
            <a:r>
              <a:rPr lang="en-US" sz="800" b="1" spc="150" kern="0" dirty="0">
                <a:solidFill>
                  <a:srgbClr val="0F6E56"/>
                </a:solidFill>
              </a:rPr>
              <a:t>CAPABILITIES</a:t>
            </a:r>
            <a:endParaRPr lang="en-US" sz="800" dirty="0"/>
          </a:p>
        </p:txBody>
      </p:sp>
      <p:sp>
        <p:nvSpPr>
          <p:cNvPr id="4" name="Text 2"/>
          <p:cNvSpPr/>
          <p:nvPr/>
        </p:nvSpPr>
        <p:spPr>
          <a:xfrm>
            <a:off x="457200" y="685800"/>
            <a:ext cx="8229600" cy="640080"/>
          </a:xfrm>
          <a:prstGeom prst="rect">
            <a:avLst/>
          </a:prstGeom>
          <a:noFill/>
          <a:ln/>
        </p:spPr>
        <p:txBody>
          <a:bodyPr wrap="square" lIns="0" tIns="0" rIns="0" bIns="0" rtlCol="0" anchor="ctr"/>
          <a:lstStyle/>
          <a:p>
            <a:pPr algn="l" indent="0" marL="0">
              <a:buNone/>
            </a:pPr>
            <a:r>
              <a:rPr lang="en-US" sz="3000" b="1" dirty="0">
                <a:solidFill>
                  <a:srgbClr val="0F172A"/>
                </a:solidFill>
                <a:latin typeface="Calibri" pitchFamily="34" charset="0"/>
                <a:ea typeface="Calibri" pitchFamily="34" charset="-122"/>
                <a:cs typeface="Calibri" pitchFamily="34" charset="-120"/>
              </a:rPr>
              <a:t>What the agent delivers</a:t>
            </a:r>
            <a:endParaRPr lang="en-US" sz="3000" dirty="0"/>
          </a:p>
        </p:txBody>
      </p:sp>
      <p:sp>
        <p:nvSpPr>
          <p:cNvPr id="5" name="Shape 3"/>
          <p:cNvSpPr/>
          <p:nvPr/>
        </p:nvSpPr>
        <p:spPr>
          <a:xfrm>
            <a:off x="457200" y="1508760"/>
            <a:ext cx="2743200" cy="1600200"/>
          </a:xfrm>
          <a:prstGeom prst="rect">
            <a:avLst/>
          </a:prstGeom>
          <a:solidFill>
            <a:srgbClr val="F8FAFC"/>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594360" y="1673352"/>
            <a:ext cx="457200" cy="457200"/>
          </a:xfrm>
          <a:prstGeom prst="ellipse">
            <a:avLst/>
          </a:prstGeom>
          <a:solidFill>
            <a:srgbClr val="FEE2E2"/>
          </a:solidFill>
          <a:ln w="12700">
            <a:solidFill>
              <a:srgbClr val="FEE2E2"/>
            </a:solidFill>
            <a:prstDash val="solid"/>
          </a:ln>
        </p:spPr>
      </p:sp>
      <p:pic>
        <p:nvPicPr>
          <p:cNvPr id="7" name="Image 0" descr="preencoded.png">    </p:cNvPr>
          <p:cNvPicPr>
            <a:picLocks noChangeAspect="1"/>
          </p:cNvPicPr>
          <p:nvPr/>
        </p:nvPicPr>
        <p:blipFill>
          <a:blip r:embed="rId1"/>
          <a:stretch>
            <a:fillRect/>
          </a:stretch>
        </p:blipFill>
        <p:spPr>
          <a:xfrm>
            <a:off x="667512" y="1746504"/>
            <a:ext cx="310896" cy="310896"/>
          </a:xfrm>
          <a:prstGeom prst="rect">
            <a:avLst/>
          </a:prstGeom>
        </p:spPr>
      </p:pic>
      <p:sp>
        <p:nvSpPr>
          <p:cNvPr id="8" name="Text 5"/>
          <p:cNvSpPr/>
          <p:nvPr/>
        </p:nvSpPr>
        <p:spPr>
          <a:xfrm>
            <a:off x="1143000" y="1691640"/>
            <a:ext cx="1920240" cy="384048"/>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Risk Scoring</a:t>
            </a:r>
            <a:endParaRPr lang="en-US" sz="1300" dirty="0"/>
          </a:p>
        </p:txBody>
      </p:sp>
      <p:sp>
        <p:nvSpPr>
          <p:cNvPr id="9" name="Text 6"/>
          <p:cNvSpPr/>
          <p:nvPr/>
        </p:nvSpPr>
        <p:spPr>
          <a:xfrm>
            <a:off x="594360" y="2167128"/>
            <a:ext cx="2468880" cy="82296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0–100 risk score with overall risk level: Critical, High, Medium, or Low. Instant executive-ready assessment.</a:t>
            </a:r>
            <a:endParaRPr lang="en-US" sz="1000" dirty="0"/>
          </a:p>
        </p:txBody>
      </p:sp>
      <p:sp>
        <p:nvSpPr>
          <p:cNvPr id="10" name="Shape 7"/>
          <p:cNvSpPr/>
          <p:nvPr/>
        </p:nvSpPr>
        <p:spPr>
          <a:xfrm>
            <a:off x="3337560" y="1508760"/>
            <a:ext cx="2743200" cy="1600200"/>
          </a:xfrm>
          <a:prstGeom prst="rect">
            <a:avLst/>
          </a:prstGeom>
          <a:solidFill>
            <a:srgbClr val="F8FAFC"/>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1" name="Shape 8"/>
          <p:cNvSpPr/>
          <p:nvPr/>
        </p:nvSpPr>
        <p:spPr>
          <a:xfrm>
            <a:off x="3474720" y="1673352"/>
            <a:ext cx="457200" cy="457200"/>
          </a:xfrm>
          <a:prstGeom prst="ellipse">
            <a:avLst/>
          </a:prstGeom>
          <a:solidFill>
            <a:srgbClr val="FEF3C7"/>
          </a:solidFill>
          <a:ln w="12700">
            <a:solidFill>
              <a:srgbClr val="FEF3C7"/>
            </a:solidFill>
            <a:prstDash val="solid"/>
          </a:ln>
        </p:spPr>
      </p:sp>
      <p:pic>
        <p:nvPicPr>
          <p:cNvPr id="12" name="Image 1" descr="preencoded.png">    </p:cNvPr>
          <p:cNvPicPr>
            <a:picLocks noChangeAspect="1"/>
          </p:cNvPicPr>
          <p:nvPr/>
        </p:nvPicPr>
        <p:blipFill>
          <a:blip r:embed="rId2"/>
          <a:stretch>
            <a:fillRect/>
          </a:stretch>
        </p:blipFill>
        <p:spPr>
          <a:xfrm>
            <a:off x="3547872" y="1746504"/>
            <a:ext cx="310896" cy="310896"/>
          </a:xfrm>
          <a:prstGeom prst="rect">
            <a:avLst/>
          </a:prstGeom>
        </p:spPr>
      </p:pic>
      <p:sp>
        <p:nvSpPr>
          <p:cNvPr id="13" name="Text 9"/>
          <p:cNvSpPr/>
          <p:nvPr/>
        </p:nvSpPr>
        <p:spPr>
          <a:xfrm>
            <a:off x="4023360" y="1691640"/>
            <a:ext cx="1920240" cy="384048"/>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Gap Analysis</a:t>
            </a:r>
            <a:endParaRPr lang="en-US" sz="1300" dirty="0"/>
          </a:p>
        </p:txBody>
      </p:sp>
      <p:sp>
        <p:nvSpPr>
          <p:cNvPr id="14" name="Text 10"/>
          <p:cNvSpPr/>
          <p:nvPr/>
        </p:nvSpPr>
        <p:spPr>
          <a:xfrm>
            <a:off x="3474720" y="2167128"/>
            <a:ext cx="2468880" cy="82296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Color-coded security gaps table sorted by severity. Each gap includes description and specific remediation action.</a:t>
            </a:r>
            <a:endParaRPr lang="en-US" sz="1000" dirty="0"/>
          </a:p>
        </p:txBody>
      </p:sp>
      <p:sp>
        <p:nvSpPr>
          <p:cNvPr id="15" name="Shape 11"/>
          <p:cNvSpPr/>
          <p:nvPr/>
        </p:nvSpPr>
        <p:spPr>
          <a:xfrm>
            <a:off x="6217920" y="1508760"/>
            <a:ext cx="2743200" cy="1600200"/>
          </a:xfrm>
          <a:prstGeom prst="rect">
            <a:avLst/>
          </a:prstGeom>
          <a:solidFill>
            <a:srgbClr val="F8FAFC"/>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6" name="Shape 12"/>
          <p:cNvSpPr/>
          <p:nvPr/>
        </p:nvSpPr>
        <p:spPr>
          <a:xfrm>
            <a:off x="6355080" y="1673352"/>
            <a:ext cx="457200" cy="457200"/>
          </a:xfrm>
          <a:prstGeom prst="ellipse">
            <a:avLst/>
          </a:prstGeom>
          <a:solidFill>
            <a:srgbClr val="E1F5EE"/>
          </a:solidFill>
          <a:ln w="12700">
            <a:solidFill>
              <a:srgbClr val="E1F5EE"/>
            </a:solidFill>
            <a:prstDash val="solid"/>
          </a:ln>
        </p:spPr>
      </p:sp>
      <p:pic>
        <p:nvPicPr>
          <p:cNvPr id="17" name="Image 2" descr="preencoded.png">    </p:cNvPr>
          <p:cNvPicPr>
            <a:picLocks noChangeAspect="1"/>
          </p:cNvPicPr>
          <p:nvPr/>
        </p:nvPicPr>
        <p:blipFill>
          <a:blip r:embed="rId3"/>
          <a:stretch>
            <a:fillRect/>
          </a:stretch>
        </p:blipFill>
        <p:spPr>
          <a:xfrm>
            <a:off x="6428232" y="1746504"/>
            <a:ext cx="310896" cy="310896"/>
          </a:xfrm>
          <a:prstGeom prst="rect">
            <a:avLst/>
          </a:prstGeom>
        </p:spPr>
      </p:pic>
      <p:sp>
        <p:nvSpPr>
          <p:cNvPr id="18" name="Text 13"/>
          <p:cNvSpPr/>
          <p:nvPr/>
        </p:nvSpPr>
        <p:spPr>
          <a:xfrm>
            <a:off x="6903720" y="1691640"/>
            <a:ext cx="1920240" cy="384048"/>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Hardening Roadmap</a:t>
            </a:r>
            <a:endParaRPr lang="en-US" sz="1300" dirty="0"/>
          </a:p>
        </p:txBody>
      </p:sp>
      <p:sp>
        <p:nvSpPr>
          <p:cNvPr id="19" name="Text 14"/>
          <p:cNvSpPr/>
          <p:nvPr/>
        </p:nvSpPr>
        <p:spPr>
          <a:xfrm>
            <a:off x="6355080" y="2167128"/>
            <a:ext cx="2468880" cy="82296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Prioritized hardening recommendations — Immediate, Short-term, Medium-term — with tool alignment per action.</a:t>
            </a:r>
            <a:endParaRPr lang="en-US" sz="1000" dirty="0"/>
          </a:p>
        </p:txBody>
      </p:sp>
      <p:sp>
        <p:nvSpPr>
          <p:cNvPr id="20" name="Shape 15"/>
          <p:cNvSpPr/>
          <p:nvPr/>
        </p:nvSpPr>
        <p:spPr>
          <a:xfrm>
            <a:off x="457200" y="3246120"/>
            <a:ext cx="2743200" cy="1600200"/>
          </a:xfrm>
          <a:prstGeom prst="rect">
            <a:avLst/>
          </a:prstGeom>
          <a:solidFill>
            <a:srgbClr val="F8FAFC"/>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1" name="Shape 16"/>
          <p:cNvSpPr/>
          <p:nvPr/>
        </p:nvSpPr>
        <p:spPr>
          <a:xfrm>
            <a:off x="594360" y="3410712"/>
            <a:ext cx="457200" cy="457200"/>
          </a:xfrm>
          <a:prstGeom prst="ellipse">
            <a:avLst/>
          </a:prstGeom>
          <a:solidFill>
            <a:srgbClr val="DBEAFE"/>
          </a:solidFill>
          <a:ln w="12700">
            <a:solidFill>
              <a:srgbClr val="DBEAFE"/>
            </a:solidFill>
            <a:prstDash val="solid"/>
          </a:ln>
        </p:spPr>
      </p:sp>
      <p:pic>
        <p:nvPicPr>
          <p:cNvPr id="22" name="Image 3" descr="preencoded.png">    </p:cNvPr>
          <p:cNvPicPr>
            <a:picLocks noChangeAspect="1"/>
          </p:cNvPicPr>
          <p:nvPr/>
        </p:nvPicPr>
        <p:blipFill>
          <a:blip r:embed="rId4"/>
          <a:stretch>
            <a:fillRect/>
          </a:stretch>
        </p:blipFill>
        <p:spPr>
          <a:xfrm>
            <a:off x="667512" y="3483864"/>
            <a:ext cx="310896" cy="310896"/>
          </a:xfrm>
          <a:prstGeom prst="rect">
            <a:avLst/>
          </a:prstGeom>
        </p:spPr>
      </p:pic>
      <p:sp>
        <p:nvSpPr>
          <p:cNvPr id="23" name="Text 17"/>
          <p:cNvSpPr/>
          <p:nvPr/>
        </p:nvSpPr>
        <p:spPr>
          <a:xfrm>
            <a:off x="1143000" y="3429000"/>
            <a:ext cx="1920240" cy="384048"/>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90-Day Action Plan</a:t>
            </a:r>
            <a:endParaRPr lang="en-US" sz="1300" dirty="0"/>
          </a:p>
        </p:txBody>
      </p:sp>
      <p:sp>
        <p:nvSpPr>
          <p:cNvPr id="24" name="Text 18"/>
          <p:cNvSpPr/>
          <p:nvPr/>
        </p:nvSpPr>
        <p:spPr>
          <a:xfrm>
            <a:off x="594360" y="3904488"/>
            <a:ext cx="2468880" cy="82296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Phased execution plan with specific actions per phase and timeline — ready to present to customers or leadership.</a:t>
            </a:r>
            <a:endParaRPr lang="en-US" sz="1000" dirty="0"/>
          </a:p>
        </p:txBody>
      </p:sp>
      <p:sp>
        <p:nvSpPr>
          <p:cNvPr id="25" name="Shape 19"/>
          <p:cNvSpPr/>
          <p:nvPr/>
        </p:nvSpPr>
        <p:spPr>
          <a:xfrm>
            <a:off x="3337560" y="3246120"/>
            <a:ext cx="2743200" cy="1600200"/>
          </a:xfrm>
          <a:prstGeom prst="rect">
            <a:avLst/>
          </a:prstGeom>
          <a:solidFill>
            <a:srgbClr val="F8FAFC"/>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6" name="Shape 20"/>
          <p:cNvSpPr/>
          <p:nvPr/>
        </p:nvSpPr>
        <p:spPr>
          <a:xfrm>
            <a:off x="3474720" y="3410712"/>
            <a:ext cx="457200" cy="457200"/>
          </a:xfrm>
          <a:prstGeom prst="ellipse">
            <a:avLst/>
          </a:prstGeom>
          <a:solidFill>
            <a:srgbClr val="DCFCE7"/>
          </a:solidFill>
          <a:ln w="12700">
            <a:solidFill>
              <a:srgbClr val="DCFCE7"/>
            </a:solidFill>
            <a:prstDash val="solid"/>
          </a:ln>
        </p:spPr>
      </p:sp>
      <p:pic>
        <p:nvPicPr>
          <p:cNvPr id="27" name="Image 4" descr="preencoded.png">    </p:cNvPr>
          <p:cNvPicPr>
            <a:picLocks noChangeAspect="1"/>
          </p:cNvPicPr>
          <p:nvPr/>
        </p:nvPicPr>
        <p:blipFill>
          <a:blip r:embed="rId5"/>
          <a:stretch>
            <a:fillRect/>
          </a:stretch>
        </p:blipFill>
        <p:spPr>
          <a:xfrm>
            <a:off x="3547872" y="3483864"/>
            <a:ext cx="310896" cy="310896"/>
          </a:xfrm>
          <a:prstGeom prst="rect">
            <a:avLst/>
          </a:prstGeom>
        </p:spPr>
      </p:pic>
      <p:sp>
        <p:nvSpPr>
          <p:cNvPr id="28" name="Text 21"/>
          <p:cNvSpPr/>
          <p:nvPr/>
        </p:nvSpPr>
        <p:spPr>
          <a:xfrm>
            <a:off x="4023360" y="3429000"/>
            <a:ext cx="1920240" cy="384048"/>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Excel Export</a:t>
            </a:r>
            <a:endParaRPr lang="en-US" sz="1300" dirty="0"/>
          </a:p>
        </p:txBody>
      </p:sp>
      <p:sp>
        <p:nvSpPr>
          <p:cNvPr id="29" name="Text 22"/>
          <p:cNvSpPr/>
          <p:nvPr/>
        </p:nvSpPr>
        <p:spPr>
          <a:xfrm>
            <a:off x="3474720" y="3904488"/>
            <a:ext cx="2468880" cy="82296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One-click export to a 4-tab Excel workbook: Summary, Security Gaps, Recommendations, and Action Plan.</a:t>
            </a:r>
            <a:endParaRPr lang="en-US" sz="1000" dirty="0"/>
          </a:p>
        </p:txBody>
      </p:sp>
      <p:sp>
        <p:nvSpPr>
          <p:cNvPr id="30" name="Shape 23"/>
          <p:cNvSpPr/>
          <p:nvPr/>
        </p:nvSpPr>
        <p:spPr>
          <a:xfrm>
            <a:off x="6217920" y="3246120"/>
            <a:ext cx="2743200" cy="1600200"/>
          </a:xfrm>
          <a:prstGeom prst="rect">
            <a:avLst/>
          </a:prstGeom>
          <a:solidFill>
            <a:srgbClr val="F8FAFC"/>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1" name="Shape 24"/>
          <p:cNvSpPr/>
          <p:nvPr/>
        </p:nvSpPr>
        <p:spPr>
          <a:xfrm>
            <a:off x="6355080" y="3410712"/>
            <a:ext cx="457200" cy="457200"/>
          </a:xfrm>
          <a:prstGeom prst="ellipse">
            <a:avLst/>
          </a:prstGeom>
          <a:solidFill>
            <a:srgbClr val="EDE9FE"/>
          </a:solidFill>
          <a:ln w="12700">
            <a:solidFill>
              <a:srgbClr val="EDE9FE"/>
            </a:solidFill>
            <a:prstDash val="solid"/>
          </a:ln>
        </p:spPr>
      </p:sp>
      <p:pic>
        <p:nvPicPr>
          <p:cNvPr id="32" name="Image 5" descr="preencoded.png">    </p:cNvPr>
          <p:cNvPicPr>
            <a:picLocks noChangeAspect="1"/>
          </p:cNvPicPr>
          <p:nvPr/>
        </p:nvPicPr>
        <p:blipFill>
          <a:blip r:embed="rId6"/>
          <a:stretch>
            <a:fillRect/>
          </a:stretch>
        </p:blipFill>
        <p:spPr>
          <a:xfrm>
            <a:off x="6428232" y="3483864"/>
            <a:ext cx="310896" cy="310896"/>
          </a:xfrm>
          <a:prstGeom prst="rect">
            <a:avLst/>
          </a:prstGeom>
        </p:spPr>
      </p:pic>
      <p:sp>
        <p:nvSpPr>
          <p:cNvPr id="33" name="Text 25"/>
          <p:cNvSpPr/>
          <p:nvPr/>
        </p:nvSpPr>
        <p:spPr>
          <a:xfrm>
            <a:off x="6903720" y="3429000"/>
            <a:ext cx="1920240" cy="384048"/>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Multi-environment</a:t>
            </a:r>
            <a:endParaRPr lang="en-US" sz="1300" dirty="0"/>
          </a:p>
        </p:txBody>
      </p:sp>
      <p:sp>
        <p:nvSpPr>
          <p:cNvPr id="34" name="Text 26"/>
          <p:cNvSpPr/>
          <p:nvPr/>
        </p:nvSpPr>
        <p:spPr>
          <a:xfrm>
            <a:off x="6355080" y="3904488"/>
            <a:ext cx="2468880" cy="82296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Works across VCF private cloud, hybrid cloud, telco/CSP, financial services, healthcare, and government.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274320"/>
            <a:ext cx="1371600" cy="292608"/>
          </a:xfrm>
          <a:prstGeom prst="rect">
            <a:avLst/>
          </a:prstGeom>
          <a:solidFill>
            <a:srgbClr val="E1F5EE"/>
          </a:solidFill>
          <a:ln w="12700">
            <a:solidFill>
              <a:srgbClr val="E1F5EE"/>
            </a:solidFill>
            <a:prstDash val="solid"/>
          </a:ln>
        </p:spPr>
      </p:sp>
      <p:sp>
        <p:nvSpPr>
          <p:cNvPr id="3" name="Text 1"/>
          <p:cNvSpPr/>
          <p:nvPr/>
        </p:nvSpPr>
        <p:spPr>
          <a:xfrm>
            <a:off x="457200" y="274320"/>
            <a:ext cx="1371600" cy="292608"/>
          </a:xfrm>
          <a:prstGeom prst="rect">
            <a:avLst/>
          </a:prstGeom>
          <a:noFill/>
          <a:ln/>
        </p:spPr>
        <p:txBody>
          <a:bodyPr wrap="square" lIns="0" tIns="0" rIns="0" bIns="0" rtlCol="0" anchor="ctr"/>
          <a:lstStyle/>
          <a:p>
            <a:pPr algn="ctr" indent="0" marL="0">
              <a:buNone/>
            </a:pPr>
            <a:r>
              <a:rPr lang="en-US" sz="800" b="1" spc="150" kern="0" dirty="0">
                <a:solidFill>
                  <a:srgbClr val="0F6E56"/>
                </a:solidFill>
              </a:rPr>
              <a:t>HOW IT WORKS</a:t>
            </a:r>
            <a:endParaRPr lang="en-US" sz="800" dirty="0"/>
          </a:p>
        </p:txBody>
      </p:sp>
      <p:sp>
        <p:nvSpPr>
          <p:cNvPr id="4" name="Text 2"/>
          <p:cNvSpPr/>
          <p:nvPr/>
        </p:nvSpPr>
        <p:spPr>
          <a:xfrm>
            <a:off x="457200" y="685800"/>
            <a:ext cx="8229600" cy="640080"/>
          </a:xfrm>
          <a:prstGeom prst="rect">
            <a:avLst/>
          </a:prstGeom>
          <a:noFill/>
          <a:ln/>
        </p:spPr>
        <p:txBody>
          <a:bodyPr wrap="square" lIns="0" tIns="0" rIns="0" bIns="0" rtlCol="0" anchor="ctr"/>
          <a:lstStyle/>
          <a:p>
            <a:pPr algn="l" indent="0" marL="0">
              <a:buNone/>
            </a:pPr>
            <a:r>
              <a:rPr lang="en-US" sz="3000" b="1" dirty="0">
                <a:solidFill>
                  <a:srgbClr val="0F172A"/>
                </a:solidFill>
                <a:latin typeface="Calibri" pitchFamily="34" charset="0"/>
                <a:ea typeface="Calibri" pitchFamily="34" charset="-122"/>
                <a:cs typeface="Calibri" pitchFamily="34" charset="-120"/>
              </a:rPr>
              <a:t>From input to insight in seconds</a:t>
            </a:r>
            <a:endParaRPr lang="en-US" sz="3000" dirty="0"/>
          </a:p>
        </p:txBody>
      </p:sp>
      <p:sp>
        <p:nvSpPr>
          <p:cNvPr id="5" name="Shape 3"/>
          <p:cNvSpPr/>
          <p:nvPr/>
        </p:nvSpPr>
        <p:spPr>
          <a:xfrm>
            <a:off x="274320" y="1463040"/>
            <a:ext cx="1554480" cy="32004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777240" y="1600200"/>
            <a:ext cx="548640" cy="548640"/>
          </a:xfrm>
          <a:prstGeom prst="ellipse">
            <a:avLst/>
          </a:prstGeom>
          <a:solidFill>
            <a:srgbClr val="E1F5EE"/>
          </a:solidFill>
          <a:ln w="12700">
            <a:solidFill>
              <a:srgbClr val="E1F5EE"/>
            </a:solidFill>
            <a:prstDash val="solid"/>
          </a:ln>
        </p:spPr>
      </p:sp>
      <p:sp>
        <p:nvSpPr>
          <p:cNvPr id="7" name="Text 5"/>
          <p:cNvSpPr/>
          <p:nvPr/>
        </p:nvSpPr>
        <p:spPr>
          <a:xfrm>
            <a:off x="777240" y="1600200"/>
            <a:ext cx="548640" cy="548640"/>
          </a:xfrm>
          <a:prstGeom prst="rect">
            <a:avLst/>
          </a:prstGeom>
          <a:noFill/>
          <a:ln/>
        </p:spPr>
        <p:txBody>
          <a:bodyPr wrap="square" lIns="0" tIns="0" rIns="0" bIns="0" rtlCol="0" anchor="ctr"/>
          <a:lstStyle/>
          <a:p>
            <a:pPr algn="ctr" indent="0" marL="0">
              <a:buNone/>
            </a:pPr>
            <a:r>
              <a:rPr lang="en-US" sz="2000" b="1" dirty="0">
                <a:solidFill>
                  <a:srgbClr val="0F6E56"/>
                </a:solidFill>
              </a:rPr>
              <a:t>1</a:t>
            </a:r>
            <a:endParaRPr lang="en-US" sz="2000" dirty="0"/>
          </a:p>
        </p:txBody>
      </p:sp>
      <p:sp>
        <p:nvSpPr>
          <p:cNvPr id="8" name="Text 6"/>
          <p:cNvSpPr/>
          <p:nvPr/>
        </p:nvSpPr>
        <p:spPr>
          <a:xfrm>
            <a:off x="365760" y="2331720"/>
            <a:ext cx="1371600" cy="54864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Describe environment</a:t>
            </a:r>
            <a:endParaRPr lang="en-US" sz="1100" dirty="0"/>
          </a:p>
        </p:txBody>
      </p:sp>
      <p:sp>
        <p:nvSpPr>
          <p:cNvPr id="9" name="Text 7"/>
          <p:cNvSpPr/>
          <p:nvPr/>
        </p:nvSpPr>
        <p:spPr>
          <a:xfrm>
            <a:off x="365760" y="2971800"/>
            <a:ext cx="1371600" cy="1554480"/>
          </a:xfrm>
          <a:prstGeom prst="rect">
            <a:avLst/>
          </a:prstGeom>
          <a:noFill/>
          <a:ln/>
        </p:spPr>
        <p:txBody>
          <a:bodyPr wrap="square" lIns="0" tIns="0" rIns="0" bIns="0" rtlCol="0" anchor="ctr"/>
          <a:lstStyle/>
          <a:p>
            <a:pPr algn="ctr" indent="0" marL="0">
              <a:buNone/>
            </a:pPr>
            <a:r>
              <a:rPr lang="en-US" sz="950" dirty="0">
                <a:solidFill>
                  <a:srgbClr val="334155"/>
                </a:solidFill>
                <a:latin typeface="Calibri" pitchFamily="34" charset="0"/>
                <a:ea typeface="Calibri" pitchFamily="34" charset="-122"/>
                <a:cs typeface="Calibri" pitchFamily="34" charset="-120"/>
              </a:rPr>
              <a:t>User describes the network topology, selects current security tools, compliance requirements, and environment type.</a:t>
            </a:r>
            <a:endParaRPr lang="en-US" sz="950" dirty="0"/>
          </a:p>
        </p:txBody>
      </p:sp>
      <p:sp>
        <p:nvSpPr>
          <p:cNvPr id="10" name="Shape 8"/>
          <p:cNvSpPr/>
          <p:nvPr/>
        </p:nvSpPr>
        <p:spPr>
          <a:xfrm>
            <a:off x="1792224" y="2468880"/>
            <a:ext cx="201168" cy="54864"/>
          </a:xfrm>
          <a:prstGeom prst="rect">
            <a:avLst/>
          </a:prstGeom>
          <a:solidFill>
            <a:srgbClr val="94A3B8"/>
          </a:solidFill>
          <a:ln w="12700">
            <a:solidFill>
              <a:srgbClr val="94A3B8"/>
            </a:solidFill>
            <a:prstDash val="solid"/>
          </a:ln>
        </p:spPr>
      </p:sp>
      <p:sp>
        <p:nvSpPr>
          <p:cNvPr id="11" name="Shape 9"/>
          <p:cNvSpPr/>
          <p:nvPr/>
        </p:nvSpPr>
        <p:spPr>
          <a:xfrm>
            <a:off x="1993392" y="1463040"/>
            <a:ext cx="1554480" cy="32004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2496312" y="1600200"/>
            <a:ext cx="548640" cy="548640"/>
          </a:xfrm>
          <a:prstGeom prst="ellipse">
            <a:avLst/>
          </a:prstGeom>
          <a:solidFill>
            <a:srgbClr val="DBEAFE"/>
          </a:solidFill>
          <a:ln w="12700">
            <a:solidFill>
              <a:srgbClr val="DBEAFE"/>
            </a:solidFill>
            <a:prstDash val="solid"/>
          </a:ln>
        </p:spPr>
      </p:sp>
      <p:sp>
        <p:nvSpPr>
          <p:cNvPr id="13" name="Text 11"/>
          <p:cNvSpPr/>
          <p:nvPr/>
        </p:nvSpPr>
        <p:spPr>
          <a:xfrm>
            <a:off x="2496312" y="1600200"/>
            <a:ext cx="548640" cy="548640"/>
          </a:xfrm>
          <a:prstGeom prst="rect">
            <a:avLst/>
          </a:prstGeom>
          <a:noFill/>
          <a:ln/>
        </p:spPr>
        <p:txBody>
          <a:bodyPr wrap="square" lIns="0" tIns="0" rIns="0" bIns="0" rtlCol="0" anchor="ctr"/>
          <a:lstStyle/>
          <a:p>
            <a:pPr algn="ctr" indent="0" marL="0">
              <a:buNone/>
            </a:pPr>
            <a:r>
              <a:rPr lang="en-US" sz="2000" b="1" dirty="0">
                <a:solidFill>
                  <a:srgbClr val="1A2B3C"/>
                </a:solidFill>
              </a:rPr>
              <a:t>2</a:t>
            </a:r>
            <a:endParaRPr lang="en-US" sz="2000" dirty="0"/>
          </a:p>
        </p:txBody>
      </p:sp>
      <p:sp>
        <p:nvSpPr>
          <p:cNvPr id="14" name="Text 12"/>
          <p:cNvSpPr/>
          <p:nvPr/>
        </p:nvSpPr>
        <p:spPr>
          <a:xfrm>
            <a:off x="2084832" y="2331720"/>
            <a:ext cx="1371600" cy="54864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Agent prompt engine</a:t>
            </a:r>
            <a:endParaRPr lang="en-US" sz="1100" dirty="0"/>
          </a:p>
        </p:txBody>
      </p:sp>
      <p:sp>
        <p:nvSpPr>
          <p:cNvPr id="15" name="Text 13"/>
          <p:cNvSpPr/>
          <p:nvPr/>
        </p:nvSpPr>
        <p:spPr>
          <a:xfrm>
            <a:off x="2084832" y="2971800"/>
            <a:ext cx="1371600" cy="1554480"/>
          </a:xfrm>
          <a:prstGeom prst="rect">
            <a:avLst/>
          </a:prstGeom>
          <a:noFill/>
          <a:ln/>
        </p:spPr>
        <p:txBody>
          <a:bodyPr wrap="square" lIns="0" tIns="0" rIns="0" bIns="0" rtlCol="0" anchor="ctr"/>
          <a:lstStyle/>
          <a:p>
            <a:pPr algn="ctr" indent="0" marL="0">
              <a:buNone/>
            </a:pPr>
            <a:r>
              <a:rPr lang="en-US" sz="950" dirty="0">
                <a:solidFill>
                  <a:srgbClr val="334155"/>
                </a:solidFill>
                <a:latin typeface="Calibri" pitchFamily="34" charset="0"/>
                <a:ea typeface="Calibri" pitchFamily="34" charset="-122"/>
                <a:cs typeface="Calibri" pitchFamily="34" charset="-120"/>
              </a:rPr>
              <a:t>The agent constructs a structured security analysis prompt using the inputs, enriched with domain expertise context.</a:t>
            </a:r>
            <a:endParaRPr lang="en-US" sz="950" dirty="0"/>
          </a:p>
        </p:txBody>
      </p:sp>
      <p:sp>
        <p:nvSpPr>
          <p:cNvPr id="16" name="Shape 14"/>
          <p:cNvSpPr/>
          <p:nvPr/>
        </p:nvSpPr>
        <p:spPr>
          <a:xfrm>
            <a:off x="3511296" y="2468880"/>
            <a:ext cx="201168" cy="54864"/>
          </a:xfrm>
          <a:prstGeom prst="rect">
            <a:avLst/>
          </a:prstGeom>
          <a:solidFill>
            <a:srgbClr val="94A3B8"/>
          </a:solidFill>
          <a:ln w="12700">
            <a:solidFill>
              <a:srgbClr val="94A3B8"/>
            </a:solidFill>
            <a:prstDash val="solid"/>
          </a:ln>
        </p:spPr>
      </p:sp>
      <p:sp>
        <p:nvSpPr>
          <p:cNvPr id="17" name="Shape 15"/>
          <p:cNvSpPr/>
          <p:nvPr/>
        </p:nvSpPr>
        <p:spPr>
          <a:xfrm>
            <a:off x="3712464" y="1463040"/>
            <a:ext cx="1554480" cy="32004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4215384" y="1600200"/>
            <a:ext cx="548640" cy="548640"/>
          </a:xfrm>
          <a:prstGeom prst="ellipse">
            <a:avLst/>
          </a:prstGeom>
          <a:solidFill>
            <a:srgbClr val="EDE9FE"/>
          </a:solidFill>
          <a:ln w="12700">
            <a:solidFill>
              <a:srgbClr val="EDE9FE"/>
            </a:solidFill>
            <a:prstDash val="solid"/>
          </a:ln>
        </p:spPr>
      </p:sp>
      <p:sp>
        <p:nvSpPr>
          <p:cNvPr id="19" name="Text 17"/>
          <p:cNvSpPr/>
          <p:nvPr/>
        </p:nvSpPr>
        <p:spPr>
          <a:xfrm>
            <a:off x="4215384" y="1600200"/>
            <a:ext cx="548640" cy="548640"/>
          </a:xfrm>
          <a:prstGeom prst="rect">
            <a:avLst/>
          </a:prstGeom>
          <a:noFill/>
          <a:ln/>
        </p:spPr>
        <p:txBody>
          <a:bodyPr wrap="square" lIns="0" tIns="0" rIns="0" bIns="0" rtlCol="0" anchor="ctr"/>
          <a:lstStyle/>
          <a:p>
            <a:pPr algn="ctr" indent="0" marL="0">
              <a:buNone/>
            </a:pPr>
            <a:r>
              <a:rPr lang="en-US" sz="2000" b="1" dirty="0">
                <a:solidFill>
                  <a:srgbClr val="7C3AED"/>
                </a:solidFill>
              </a:rPr>
              <a:t>3</a:t>
            </a:r>
            <a:endParaRPr lang="en-US" sz="2000" dirty="0"/>
          </a:p>
        </p:txBody>
      </p:sp>
      <p:sp>
        <p:nvSpPr>
          <p:cNvPr id="20" name="Text 18"/>
          <p:cNvSpPr/>
          <p:nvPr/>
        </p:nvSpPr>
        <p:spPr>
          <a:xfrm>
            <a:off x="3803904" y="2331720"/>
            <a:ext cx="1371600" cy="54864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Claude API analysis</a:t>
            </a:r>
            <a:endParaRPr lang="en-US" sz="1100" dirty="0"/>
          </a:p>
        </p:txBody>
      </p:sp>
      <p:sp>
        <p:nvSpPr>
          <p:cNvPr id="21" name="Text 19"/>
          <p:cNvSpPr/>
          <p:nvPr/>
        </p:nvSpPr>
        <p:spPr>
          <a:xfrm>
            <a:off x="3803904" y="2971800"/>
            <a:ext cx="1371600" cy="1554480"/>
          </a:xfrm>
          <a:prstGeom prst="rect">
            <a:avLst/>
          </a:prstGeom>
          <a:noFill/>
          <a:ln/>
        </p:spPr>
        <p:txBody>
          <a:bodyPr wrap="square" lIns="0" tIns="0" rIns="0" bIns="0" rtlCol="0" anchor="ctr"/>
          <a:lstStyle/>
          <a:p>
            <a:pPr algn="ctr" indent="0" marL="0">
              <a:buNone/>
            </a:pPr>
            <a:r>
              <a:rPr lang="en-US" sz="950" dirty="0">
                <a:solidFill>
                  <a:srgbClr val="334155"/>
                </a:solidFill>
                <a:latin typeface="Calibri" pitchFamily="34" charset="0"/>
                <a:ea typeface="Calibri" pitchFamily="34" charset="-122"/>
                <a:cs typeface="Calibri" pitchFamily="34" charset="-120"/>
              </a:rPr>
              <a:t>Claude claude-haiku-4-5 processes the prompt as a Principal Security Architect and returns structured JSON analysis.</a:t>
            </a:r>
            <a:endParaRPr lang="en-US" sz="950" dirty="0"/>
          </a:p>
        </p:txBody>
      </p:sp>
      <p:sp>
        <p:nvSpPr>
          <p:cNvPr id="22" name="Shape 20"/>
          <p:cNvSpPr/>
          <p:nvPr/>
        </p:nvSpPr>
        <p:spPr>
          <a:xfrm>
            <a:off x="5230368" y="2468880"/>
            <a:ext cx="201168" cy="54864"/>
          </a:xfrm>
          <a:prstGeom prst="rect">
            <a:avLst/>
          </a:prstGeom>
          <a:solidFill>
            <a:srgbClr val="94A3B8"/>
          </a:solidFill>
          <a:ln w="12700">
            <a:solidFill>
              <a:srgbClr val="94A3B8"/>
            </a:solidFill>
            <a:prstDash val="solid"/>
          </a:ln>
        </p:spPr>
      </p:sp>
      <p:sp>
        <p:nvSpPr>
          <p:cNvPr id="23" name="Shape 21"/>
          <p:cNvSpPr/>
          <p:nvPr/>
        </p:nvSpPr>
        <p:spPr>
          <a:xfrm>
            <a:off x="5431536" y="1463040"/>
            <a:ext cx="1554480" cy="32004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4" name="Shape 22"/>
          <p:cNvSpPr/>
          <p:nvPr/>
        </p:nvSpPr>
        <p:spPr>
          <a:xfrm>
            <a:off x="5934456" y="1600200"/>
            <a:ext cx="548640" cy="548640"/>
          </a:xfrm>
          <a:prstGeom prst="ellipse">
            <a:avLst/>
          </a:prstGeom>
          <a:solidFill>
            <a:srgbClr val="F5E9C8"/>
          </a:solidFill>
          <a:ln w="12700">
            <a:solidFill>
              <a:srgbClr val="F5E9C8"/>
            </a:solidFill>
            <a:prstDash val="solid"/>
          </a:ln>
        </p:spPr>
      </p:sp>
      <p:sp>
        <p:nvSpPr>
          <p:cNvPr id="25" name="Text 23"/>
          <p:cNvSpPr/>
          <p:nvPr/>
        </p:nvSpPr>
        <p:spPr>
          <a:xfrm>
            <a:off x="5934456" y="1600200"/>
            <a:ext cx="548640" cy="548640"/>
          </a:xfrm>
          <a:prstGeom prst="rect">
            <a:avLst/>
          </a:prstGeom>
          <a:noFill/>
          <a:ln/>
        </p:spPr>
        <p:txBody>
          <a:bodyPr wrap="square" lIns="0" tIns="0" rIns="0" bIns="0" rtlCol="0" anchor="ctr"/>
          <a:lstStyle/>
          <a:p>
            <a:pPr algn="ctr" indent="0" marL="0">
              <a:buNone/>
            </a:pPr>
            <a:r>
              <a:rPr lang="en-US" sz="2000" b="1" dirty="0">
                <a:solidFill>
                  <a:srgbClr val="C9A84C"/>
                </a:solidFill>
              </a:rPr>
              <a:t>4</a:t>
            </a:r>
            <a:endParaRPr lang="en-US" sz="2000" dirty="0"/>
          </a:p>
        </p:txBody>
      </p:sp>
      <p:sp>
        <p:nvSpPr>
          <p:cNvPr id="26" name="Text 24"/>
          <p:cNvSpPr/>
          <p:nvPr/>
        </p:nvSpPr>
        <p:spPr>
          <a:xfrm>
            <a:off x="5522976" y="2331720"/>
            <a:ext cx="1371600" cy="54864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Results rendered</a:t>
            </a:r>
            <a:endParaRPr lang="en-US" sz="1100" dirty="0"/>
          </a:p>
        </p:txBody>
      </p:sp>
      <p:sp>
        <p:nvSpPr>
          <p:cNvPr id="27" name="Text 25"/>
          <p:cNvSpPr/>
          <p:nvPr/>
        </p:nvSpPr>
        <p:spPr>
          <a:xfrm>
            <a:off x="5522976" y="2971800"/>
            <a:ext cx="1371600" cy="1554480"/>
          </a:xfrm>
          <a:prstGeom prst="rect">
            <a:avLst/>
          </a:prstGeom>
          <a:noFill/>
          <a:ln/>
        </p:spPr>
        <p:txBody>
          <a:bodyPr wrap="square" lIns="0" tIns="0" rIns="0" bIns="0" rtlCol="0" anchor="ctr"/>
          <a:lstStyle/>
          <a:p>
            <a:pPr algn="ctr" indent="0" marL="0">
              <a:buNone/>
            </a:pPr>
            <a:r>
              <a:rPr lang="en-US" sz="950" dirty="0">
                <a:solidFill>
                  <a:srgbClr val="334155"/>
                </a:solidFill>
                <a:latin typeface="Calibri" pitchFamily="34" charset="0"/>
                <a:ea typeface="Calibri" pitchFamily="34" charset="-122"/>
                <a:cs typeface="Calibri" pitchFamily="34" charset="-120"/>
              </a:rPr>
              <a:t>JSON is parsed and rendered as color-coded severity tables — gaps, recommendations, and 90-day action plan.</a:t>
            </a:r>
            <a:endParaRPr lang="en-US" sz="950" dirty="0"/>
          </a:p>
        </p:txBody>
      </p:sp>
      <p:sp>
        <p:nvSpPr>
          <p:cNvPr id="28" name="Shape 26"/>
          <p:cNvSpPr/>
          <p:nvPr/>
        </p:nvSpPr>
        <p:spPr>
          <a:xfrm>
            <a:off x="6949440" y="2468880"/>
            <a:ext cx="201168" cy="54864"/>
          </a:xfrm>
          <a:prstGeom prst="rect">
            <a:avLst/>
          </a:prstGeom>
          <a:solidFill>
            <a:srgbClr val="94A3B8"/>
          </a:solidFill>
          <a:ln w="12700">
            <a:solidFill>
              <a:srgbClr val="94A3B8"/>
            </a:solidFill>
            <a:prstDash val="solid"/>
          </a:ln>
        </p:spPr>
      </p:sp>
      <p:sp>
        <p:nvSpPr>
          <p:cNvPr id="29" name="Shape 27"/>
          <p:cNvSpPr/>
          <p:nvPr/>
        </p:nvSpPr>
        <p:spPr>
          <a:xfrm>
            <a:off x="7150608" y="1463040"/>
            <a:ext cx="1554480" cy="32004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0" name="Shape 28"/>
          <p:cNvSpPr/>
          <p:nvPr/>
        </p:nvSpPr>
        <p:spPr>
          <a:xfrm>
            <a:off x="7653528" y="1600200"/>
            <a:ext cx="548640" cy="548640"/>
          </a:xfrm>
          <a:prstGeom prst="ellipse">
            <a:avLst/>
          </a:prstGeom>
          <a:solidFill>
            <a:srgbClr val="DCFCE7"/>
          </a:solidFill>
          <a:ln w="12700">
            <a:solidFill>
              <a:srgbClr val="DCFCE7"/>
            </a:solidFill>
            <a:prstDash val="solid"/>
          </a:ln>
        </p:spPr>
      </p:sp>
      <p:sp>
        <p:nvSpPr>
          <p:cNvPr id="31" name="Text 29"/>
          <p:cNvSpPr/>
          <p:nvPr/>
        </p:nvSpPr>
        <p:spPr>
          <a:xfrm>
            <a:off x="7653528" y="1600200"/>
            <a:ext cx="548640" cy="548640"/>
          </a:xfrm>
          <a:prstGeom prst="rect">
            <a:avLst/>
          </a:prstGeom>
          <a:noFill/>
          <a:ln/>
        </p:spPr>
        <p:txBody>
          <a:bodyPr wrap="square" lIns="0" tIns="0" rIns="0" bIns="0" rtlCol="0" anchor="ctr"/>
          <a:lstStyle/>
          <a:p>
            <a:pPr algn="ctr" indent="0" marL="0">
              <a:buNone/>
            </a:pPr>
            <a:r>
              <a:rPr lang="en-US" sz="2000" b="1" dirty="0">
                <a:solidFill>
                  <a:srgbClr val="16A34A"/>
                </a:solidFill>
              </a:rPr>
              <a:t>5</a:t>
            </a:r>
            <a:endParaRPr lang="en-US" sz="2000" dirty="0"/>
          </a:p>
        </p:txBody>
      </p:sp>
      <p:sp>
        <p:nvSpPr>
          <p:cNvPr id="32" name="Text 30"/>
          <p:cNvSpPr/>
          <p:nvPr/>
        </p:nvSpPr>
        <p:spPr>
          <a:xfrm>
            <a:off x="7242048" y="2331720"/>
            <a:ext cx="1371600" cy="54864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Export &amp; share</a:t>
            </a:r>
            <a:endParaRPr lang="en-US" sz="1100" dirty="0"/>
          </a:p>
        </p:txBody>
      </p:sp>
      <p:sp>
        <p:nvSpPr>
          <p:cNvPr id="33" name="Text 31"/>
          <p:cNvSpPr/>
          <p:nvPr/>
        </p:nvSpPr>
        <p:spPr>
          <a:xfrm>
            <a:off x="7242048" y="2971800"/>
            <a:ext cx="1371600" cy="1554480"/>
          </a:xfrm>
          <a:prstGeom prst="rect">
            <a:avLst/>
          </a:prstGeom>
          <a:noFill/>
          <a:ln/>
        </p:spPr>
        <p:txBody>
          <a:bodyPr wrap="square" lIns="0" tIns="0" rIns="0" bIns="0" rtlCol="0" anchor="ctr"/>
          <a:lstStyle/>
          <a:p>
            <a:pPr algn="ctr" indent="0" marL="0">
              <a:buNone/>
            </a:pPr>
            <a:r>
              <a:rPr lang="en-US" sz="950" dirty="0">
                <a:solidFill>
                  <a:srgbClr val="334155"/>
                </a:solidFill>
                <a:latin typeface="Calibri" pitchFamily="34" charset="0"/>
                <a:ea typeface="Calibri" pitchFamily="34" charset="-122"/>
                <a:cs typeface="Calibri" pitchFamily="34" charset="-120"/>
              </a:rPr>
              <a:t>One-click Excel export generates a 4-tab workbook ready to share with customers, leadership, or audit teams.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457200" y="274320"/>
            <a:ext cx="1920240" cy="292608"/>
          </a:xfrm>
          <a:prstGeom prst="rect">
            <a:avLst/>
          </a:prstGeom>
          <a:solidFill>
            <a:srgbClr val="0F6E56"/>
          </a:solidFill>
          <a:ln w="12700">
            <a:solidFill>
              <a:srgbClr val="0F6E56"/>
            </a:solidFill>
            <a:prstDash val="solid"/>
          </a:ln>
        </p:spPr>
      </p:sp>
      <p:sp>
        <p:nvSpPr>
          <p:cNvPr id="3" name="Text 1"/>
          <p:cNvSpPr/>
          <p:nvPr/>
        </p:nvSpPr>
        <p:spPr>
          <a:xfrm>
            <a:off x="457200" y="274320"/>
            <a:ext cx="19202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HIGH-LEVEL ARCHITECTURE</a:t>
            </a:r>
            <a:endParaRPr lang="en-US" sz="800" dirty="0"/>
          </a:p>
        </p:txBody>
      </p:sp>
      <p:sp>
        <p:nvSpPr>
          <p:cNvPr id="4" name="Text 2"/>
          <p:cNvSpPr/>
          <p:nvPr/>
        </p:nvSpPr>
        <p:spPr>
          <a:xfrm>
            <a:off x="457200" y="685800"/>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System architecture — HLD</a:t>
            </a:r>
            <a:endParaRPr lang="en-US" sz="2800" dirty="0"/>
          </a:p>
        </p:txBody>
      </p:sp>
      <p:sp>
        <p:nvSpPr>
          <p:cNvPr id="5" name="Shape 3"/>
          <p:cNvSpPr/>
          <p:nvPr/>
        </p:nvSpPr>
        <p:spPr>
          <a:xfrm>
            <a:off x="365760" y="1417320"/>
            <a:ext cx="2743200" cy="3383280"/>
          </a:xfrm>
          <a:prstGeom prst="rect">
            <a:avLst/>
          </a:prstGeom>
          <a:solidFill>
            <a:srgbClr val="0D2B22"/>
          </a:solidFill>
          <a:ln w="12700">
            <a:solidFill>
              <a:srgbClr val="0F6E56"/>
            </a:solidFill>
            <a:prstDash val="solid"/>
          </a:ln>
        </p:spPr>
      </p:sp>
      <p:sp>
        <p:nvSpPr>
          <p:cNvPr id="6" name="Shape 4"/>
          <p:cNvSpPr/>
          <p:nvPr/>
        </p:nvSpPr>
        <p:spPr>
          <a:xfrm>
            <a:off x="365760" y="1417320"/>
            <a:ext cx="2743200" cy="347472"/>
          </a:xfrm>
          <a:prstGeom prst="rect">
            <a:avLst/>
          </a:prstGeom>
          <a:solidFill>
            <a:srgbClr val="0F6E56"/>
          </a:solidFill>
          <a:ln w="12700">
            <a:solidFill>
              <a:srgbClr val="0F6E56"/>
            </a:solidFill>
            <a:prstDash val="solid"/>
          </a:ln>
        </p:spPr>
      </p:sp>
      <p:sp>
        <p:nvSpPr>
          <p:cNvPr id="7" name="Text 5"/>
          <p:cNvSpPr/>
          <p:nvPr/>
        </p:nvSpPr>
        <p:spPr>
          <a:xfrm>
            <a:off x="365760" y="1417320"/>
            <a:ext cx="2743200" cy="347472"/>
          </a:xfrm>
          <a:prstGeom prst="rect">
            <a:avLst/>
          </a:prstGeom>
          <a:noFill/>
          <a:ln/>
        </p:spPr>
        <p:txBody>
          <a:bodyPr wrap="square" lIns="0" tIns="0" rIns="0" bIns="0" rtlCol="0" anchor="ctr"/>
          <a:lstStyle/>
          <a:p>
            <a:pPr algn="ctr" indent="0" marL="0">
              <a:buNone/>
            </a:pPr>
            <a:r>
              <a:rPr lang="en-US" sz="900" b="1" spc="100" kern="0" dirty="0">
                <a:solidFill>
                  <a:srgbClr val="FFFFFF"/>
                </a:solidFill>
              </a:rPr>
              <a:t>PRESENTATION LAYER</a:t>
            </a:r>
            <a:endParaRPr lang="en-US" sz="900" dirty="0"/>
          </a:p>
        </p:txBody>
      </p:sp>
      <p:sp>
        <p:nvSpPr>
          <p:cNvPr id="8" name="Text 6"/>
          <p:cNvSpPr/>
          <p:nvPr/>
        </p:nvSpPr>
        <p:spPr>
          <a:xfrm>
            <a:off x="502920" y="1920240"/>
            <a:ext cx="2468880" cy="2743200"/>
          </a:xfrm>
          <a:prstGeom prst="rect">
            <a:avLst/>
          </a:prstGeom>
          <a:noFill/>
          <a:ln/>
        </p:spPr>
        <p:txBody>
          <a:bodyPr wrap="square" lIns="0" tIns="0" rIns="0" bIns="0" rtlCol="0" anchor="ctr"/>
          <a:lstStyle/>
          <a:p>
            <a:pPr indent="0" marL="0">
              <a:lnSpc>
                <a:spcPct val="140000"/>
              </a:lnSpc>
              <a:buNone/>
            </a:pPr>
            <a:r>
              <a:rPr lang="en-US" sz="1050" dirty="0">
                <a:solidFill>
                  <a:srgbClr val="FFFFFF"/>
                </a:solidFill>
                <a:latin typeface="Calibri" pitchFamily="34" charset="0"/>
                <a:ea typeface="Calibri" pitchFamily="34" charset="-122"/>
                <a:cs typeface="Calibri" pitchFamily="34" charset="-120"/>
              </a:rPr>
              <a:t>◆  Browser-based web app</a:t>
            </a:r>
            <a:endParaRPr lang="en-US" sz="1050" dirty="0"/>
          </a:p>
          <a:p>
            <a:pPr indent="0" marL="0">
              <a:lnSpc>
                <a:spcPct val="140000"/>
              </a:lnSpc>
              <a:buNone/>
            </a:pPr>
            <a:r>
              <a:rPr lang="en-US" sz="1050" dirty="0">
                <a:solidFill>
                  <a:srgbClr val="FFFFFF"/>
                </a:solidFill>
                <a:latin typeface="Calibri" pitchFamily="34" charset="0"/>
                <a:ea typeface="Calibri" pitchFamily="34" charset="-122"/>
                <a:cs typeface="Calibri" pitchFamily="34" charset="-120"/>
              </a:rPr>
              <a:t>◆  HTML / CSS / JavaScript</a:t>
            </a:r>
            <a:endParaRPr lang="en-US" sz="1050" dirty="0"/>
          </a:p>
          <a:p>
            <a:pPr indent="0" marL="0">
              <a:lnSpc>
                <a:spcPct val="140000"/>
              </a:lnSpc>
              <a:buNone/>
            </a:pPr>
            <a:r>
              <a:rPr lang="en-US" sz="1050" dirty="0">
                <a:solidFill>
                  <a:srgbClr val="FFFFFF"/>
                </a:solidFill>
                <a:latin typeface="Calibri" pitchFamily="34" charset="0"/>
                <a:ea typeface="Calibri" pitchFamily="34" charset="-122"/>
                <a:cs typeface="Calibri" pitchFamily="34" charset="-120"/>
              </a:rPr>
              <a:t>◆  No frameworks — standalone</a:t>
            </a:r>
            <a:endParaRPr lang="en-US" sz="1050" dirty="0"/>
          </a:p>
          <a:p>
            <a:pPr indent="0" marL="0">
              <a:lnSpc>
                <a:spcPct val="140000"/>
              </a:lnSpc>
              <a:buNone/>
            </a:pPr>
            <a:r>
              <a:rPr lang="en-US" sz="1050" dirty="0">
                <a:solidFill>
                  <a:srgbClr val="FFFFFF"/>
                </a:solidFill>
                <a:latin typeface="Calibri" pitchFamily="34" charset="0"/>
                <a:ea typeface="Calibri" pitchFamily="34" charset="-122"/>
                <a:cs typeface="Calibri" pitchFamily="34" charset="-120"/>
              </a:rPr>
              <a:t>◆  Dark mode support</a:t>
            </a:r>
            <a:endParaRPr lang="en-US" sz="1050" dirty="0"/>
          </a:p>
          <a:p>
            <a:pPr indent="0" marL="0">
              <a:lnSpc>
                <a:spcPct val="140000"/>
              </a:lnSpc>
              <a:buNone/>
            </a:pPr>
            <a:r>
              <a:rPr lang="en-US" sz="1050" dirty="0">
                <a:solidFill>
                  <a:srgbClr val="FFFFFF"/>
                </a:solidFill>
                <a:latin typeface="Calibri" pitchFamily="34" charset="0"/>
                <a:ea typeface="Calibri" pitchFamily="34" charset="-122"/>
                <a:cs typeface="Calibri" pitchFamily="34" charset="-120"/>
              </a:rPr>
              <a:t>◆  Mobile responsive</a:t>
            </a:r>
            <a:endParaRPr lang="en-US" sz="1050" dirty="0"/>
          </a:p>
        </p:txBody>
      </p:sp>
      <p:sp>
        <p:nvSpPr>
          <p:cNvPr id="9" name="Shape 7"/>
          <p:cNvSpPr/>
          <p:nvPr/>
        </p:nvSpPr>
        <p:spPr>
          <a:xfrm>
            <a:off x="3127248" y="3063240"/>
            <a:ext cx="182880" cy="54864"/>
          </a:xfrm>
          <a:prstGeom prst="rect">
            <a:avLst/>
          </a:prstGeom>
          <a:solidFill>
            <a:srgbClr val="94A3B8"/>
          </a:solidFill>
          <a:ln w="12700">
            <a:solidFill>
              <a:srgbClr val="94A3B8"/>
            </a:solidFill>
            <a:prstDash val="solid"/>
          </a:ln>
        </p:spPr>
      </p:sp>
      <p:sp>
        <p:nvSpPr>
          <p:cNvPr id="10" name="Shape 8"/>
          <p:cNvSpPr/>
          <p:nvPr/>
        </p:nvSpPr>
        <p:spPr>
          <a:xfrm>
            <a:off x="3337560" y="1417320"/>
            <a:ext cx="2743200" cy="3383280"/>
          </a:xfrm>
          <a:prstGeom prst="rect">
            <a:avLst/>
          </a:prstGeom>
          <a:solidFill>
            <a:srgbClr val="2A2010"/>
          </a:solidFill>
          <a:ln w="12700">
            <a:solidFill>
              <a:srgbClr val="C9A84C"/>
            </a:solidFill>
            <a:prstDash val="solid"/>
          </a:ln>
        </p:spPr>
      </p:sp>
      <p:sp>
        <p:nvSpPr>
          <p:cNvPr id="11" name="Shape 9"/>
          <p:cNvSpPr/>
          <p:nvPr/>
        </p:nvSpPr>
        <p:spPr>
          <a:xfrm>
            <a:off x="3337560" y="1417320"/>
            <a:ext cx="2743200" cy="347472"/>
          </a:xfrm>
          <a:prstGeom prst="rect">
            <a:avLst/>
          </a:prstGeom>
          <a:solidFill>
            <a:srgbClr val="C9A84C"/>
          </a:solidFill>
          <a:ln w="12700">
            <a:solidFill>
              <a:srgbClr val="C9A84C"/>
            </a:solidFill>
            <a:prstDash val="solid"/>
          </a:ln>
        </p:spPr>
      </p:sp>
      <p:sp>
        <p:nvSpPr>
          <p:cNvPr id="12" name="Text 10"/>
          <p:cNvSpPr/>
          <p:nvPr/>
        </p:nvSpPr>
        <p:spPr>
          <a:xfrm>
            <a:off x="3337560" y="1417320"/>
            <a:ext cx="2743200" cy="347472"/>
          </a:xfrm>
          <a:prstGeom prst="rect">
            <a:avLst/>
          </a:prstGeom>
          <a:noFill/>
          <a:ln/>
        </p:spPr>
        <p:txBody>
          <a:bodyPr wrap="square" lIns="0" tIns="0" rIns="0" bIns="0" rtlCol="0" anchor="ctr"/>
          <a:lstStyle/>
          <a:p>
            <a:pPr algn="ctr" indent="0" marL="0">
              <a:buNone/>
            </a:pPr>
            <a:r>
              <a:rPr lang="en-US" sz="900" b="1" spc="100" kern="0" dirty="0">
                <a:solidFill>
                  <a:srgbClr val="FFFFFF"/>
                </a:solidFill>
              </a:rPr>
              <a:t>AGENT LOGIC LAYER</a:t>
            </a:r>
            <a:endParaRPr lang="en-US" sz="900" dirty="0"/>
          </a:p>
        </p:txBody>
      </p:sp>
      <p:sp>
        <p:nvSpPr>
          <p:cNvPr id="13" name="Text 11"/>
          <p:cNvSpPr/>
          <p:nvPr/>
        </p:nvSpPr>
        <p:spPr>
          <a:xfrm>
            <a:off x="3474720" y="1920240"/>
            <a:ext cx="2468880" cy="2743200"/>
          </a:xfrm>
          <a:prstGeom prst="rect">
            <a:avLst/>
          </a:prstGeom>
          <a:noFill/>
          <a:ln/>
        </p:spPr>
        <p:txBody>
          <a:bodyPr wrap="square" lIns="0" tIns="0" rIns="0" bIns="0" rtlCol="0" anchor="ctr"/>
          <a:lstStyle/>
          <a:p>
            <a:pPr indent="0" marL="0">
              <a:lnSpc>
                <a:spcPct val="140000"/>
              </a:lnSpc>
              <a:buNone/>
            </a:pPr>
            <a:r>
              <a:rPr lang="en-US" sz="1050" dirty="0">
                <a:solidFill>
                  <a:srgbClr val="FFFFFF"/>
                </a:solidFill>
                <a:latin typeface="Calibri" pitchFamily="34" charset="0"/>
                <a:ea typeface="Calibri" pitchFamily="34" charset="-122"/>
                <a:cs typeface="Calibri" pitchFamily="34" charset="-120"/>
              </a:rPr>
              <a:t>◆  Input collection &amp; validation</a:t>
            </a:r>
            <a:endParaRPr lang="en-US" sz="1050" dirty="0"/>
          </a:p>
          <a:p>
            <a:pPr indent="0" marL="0">
              <a:lnSpc>
                <a:spcPct val="140000"/>
              </a:lnSpc>
              <a:buNone/>
            </a:pPr>
            <a:r>
              <a:rPr lang="en-US" sz="1050" dirty="0">
                <a:solidFill>
                  <a:srgbClr val="FFFFFF"/>
                </a:solidFill>
                <a:latin typeface="Calibri" pitchFamily="34" charset="0"/>
                <a:ea typeface="Calibri" pitchFamily="34" charset="-122"/>
                <a:cs typeface="Calibri" pitchFamily="34" charset="-120"/>
              </a:rPr>
              <a:t>◆  Prompt engineering engine</a:t>
            </a:r>
            <a:endParaRPr lang="en-US" sz="1050" dirty="0"/>
          </a:p>
          <a:p>
            <a:pPr indent="0" marL="0">
              <a:lnSpc>
                <a:spcPct val="140000"/>
              </a:lnSpc>
              <a:buNone/>
            </a:pPr>
            <a:r>
              <a:rPr lang="en-US" sz="1050" dirty="0">
                <a:solidFill>
                  <a:srgbClr val="FFFFFF"/>
                </a:solidFill>
                <a:latin typeface="Calibri" pitchFamily="34" charset="0"/>
                <a:ea typeface="Calibri" pitchFamily="34" charset="-122"/>
                <a:cs typeface="Calibri" pitchFamily="34" charset="-120"/>
              </a:rPr>
              <a:t>◆  Domain context injection</a:t>
            </a:r>
            <a:endParaRPr lang="en-US" sz="1050" dirty="0"/>
          </a:p>
          <a:p>
            <a:pPr indent="0" marL="0">
              <a:lnSpc>
                <a:spcPct val="140000"/>
              </a:lnSpc>
              <a:buNone/>
            </a:pPr>
            <a:r>
              <a:rPr lang="en-US" sz="1050" dirty="0">
                <a:solidFill>
                  <a:srgbClr val="FFFFFF"/>
                </a:solidFill>
                <a:latin typeface="Calibri" pitchFamily="34" charset="0"/>
                <a:ea typeface="Calibri" pitchFamily="34" charset="-122"/>
                <a:cs typeface="Calibri" pitchFamily="34" charset="-120"/>
              </a:rPr>
              <a:t>◆  JSON response parser</a:t>
            </a:r>
            <a:endParaRPr lang="en-US" sz="1050" dirty="0"/>
          </a:p>
          <a:p>
            <a:pPr indent="0" marL="0">
              <a:lnSpc>
                <a:spcPct val="140000"/>
              </a:lnSpc>
              <a:buNone/>
            </a:pPr>
            <a:r>
              <a:rPr lang="en-US" sz="1050" dirty="0">
                <a:solidFill>
                  <a:srgbClr val="FFFFFF"/>
                </a:solidFill>
                <a:latin typeface="Calibri" pitchFamily="34" charset="0"/>
                <a:ea typeface="Calibri" pitchFamily="34" charset="-122"/>
                <a:cs typeface="Calibri" pitchFamily="34" charset="-120"/>
              </a:rPr>
              <a:t>◆  Error handling &amp; fallback</a:t>
            </a:r>
            <a:endParaRPr lang="en-US" sz="1050" dirty="0"/>
          </a:p>
        </p:txBody>
      </p:sp>
      <p:sp>
        <p:nvSpPr>
          <p:cNvPr id="14" name="Shape 12"/>
          <p:cNvSpPr/>
          <p:nvPr/>
        </p:nvSpPr>
        <p:spPr>
          <a:xfrm>
            <a:off x="6099048" y="3063240"/>
            <a:ext cx="182880" cy="54864"/>
          </a:xfrm>
          <a:prstGeom prst="rect">
            <a:avLst/>
          </a:prstGeom>
          <a:solidFill>
            <a:srgbClr val="94A3B8"/>
          </a:solidFill>
          <a:ln w="12700">
            <a:solidFill>
              <a:srgbClr val="94A3B8"/>
            </a:solidFill>
            <a:prstDash val="solid"/>
          </a:ln>
        </p:spPr>
      </p:sp>
      <p:sp>
        <p:nvSpPr>
          <p:cNvPr id="15" name="Shape 13"/>
          <p:cNvSpPr/>
          <p:nvPr/>
        </p:nvSpPr>
        <p:spPr>
          <a:xfrm>
            <a:off x="6309360" y="1417320"/>
            <a:ext cx="2743200" cy="3383280"/>
          </a:xfrm>
          <a:prstGeom prst="rect">
            <a:avLst/>
          </a:prstGeom>
          <a:solidFill>
            <a:srgbClr val="1A1030"/>
          </a:solidFill>
          <a:ln w="12700">
            <a:solidFill>
              <a:srgbClr val="A78BFA"/>
            </a:solidFill>
            <a:prstDash val="solid"/>
          </a:ln>
        </p:spPr>
      </p:sp>
      <p:sp>
        <p:nvSpPr>
          <p:cNvPr id="16" name="Shape 14"/>
          <p:cNvSpPr/>
          <p:nvPr/>
        </p:nvSpPr>
        <p:spPr>
          <a:xfrm>
            <a:off x="6309360" y="1417320"/>
            <a:ext cx="2743200" cy="347472"/>
          </a:xfrm>
          <a:prstGeom prst="rect">
            <a:avLst/>
          </a:prstGeom>
          <a:solidFill>
            <a:srgbClr val="A78BFA"/>
          </a:solidFill>
          <a:ln w="12700">
            <a:solidFill>
              <a:srgbClr val="A78BFA"/>
            </a:solidFill>
            <a:prstDash val="solid"/>
          </a:ln>
        </p:spPr>
      </p:sp>
      <p:sp>
        <p:nvSpPr>
          <p:cNvPr id="17" name="Text 15"/>
          <p:cNvSpPr/>
          <p:nvPr/>
        </p:nvSpPr>
        <p:spPr>
          <a:xfrm>
            <a:off x="6309360" y="1417320"/>
            <a:ext cx="2743200" cy="347472"/>
          </a:xfrm>
          <a:prstGeom prst="rect">
            <a:avLst/>
          </a:prstGeom>
          <a:noFill/>
          <a:ln/>
        </p:spPr>
        <p:txBody>
          <a:bodyPr wrap="square" lIns="0" tIns="0" rIns="0" bIns="0" rtlCol="0" anchor="ctr"/>
          <a:lstStyle/>
          <a:p>
            <a:pPr algn="ctr" indent="0" marL="0">
              <a:buNone/>
            </a:pPr>
            <a:r>
              <a:rPr lang="en-US" sz="900" b="1" spc="100" kern="0" dirty="0">
                <a:solidFill>
                  <a:srgbClr val="FFFFFF"/>
                </a:solidFill>
              </a:rPr>
              <a:t>AI &amp; OUTPUT LAYER</a:t>
            </a:r>
            <a:endParaRPr lang="en-US" sz="900" dirty="0"/>
          </a:p>
        </p:txBody>
      </p:sp>
      <p:sp>
        <p:nvSpPr>
          <p:cNvPr id="18" name="Text 16"/>
          <p:cNvSpPr/>
          <p:nvPr/>
        </p:nvSpPr>
        <p:spPr>
          <a:xfrm>
            <a:off x="6446520" y="1920240"/>
            <a:ext cx="2468880" cy="2743200"/>
          </a:xfrm>
          <a:prstGeom prst="rect">
            <a:avLst/>
          </a:prstGeom>
          <a:noFill/>
          <a:ln/>
        </p:spPr>
        <p:txBody>
          <a:bodyPr wrap="square" lIns="0" tIns="0" rIns="0" bIns="0" rtlCol="0" anchor="ctr"/>
          <a:lstStyle/>
          <a:p>
            <a:pPr indent="0" marL="0">
              <a:lnSpc>
                <a:spcPct val="140000"/>
              </a:lnSpc>
              <a:buNone/>
            </a:pPr>
            <a:r>
              <a:rPr lang="en-US" sz="1050" dirty="0">
                <a:solidFill>
                  <a:srgbClr val="FFFFFF"/>
                </a:solidFill>
                <a:latin typeface="Calibri" pitchFamily="34" charset="0"/>
                <a:ea typeface="Calibri" pitchFamily="34" charset="-122"/>
                <a:cs typeface="Calibri" pitchFamily="34" charset="-120"/>
              </a:rPr>
              <a:t>◆  Claude claude-haiku-4-5 API</a:t>
            </a:r>
            <a:endParaRPr lang="en-US" sz="1050" dirty="0"/>
          </a:p>
          <a:p>
            <a:pPr indent="0" marL="0">
              <a:lnSpc>
                <a:spcPct val="140000"/>
              </a:lnSpc>
              <a:buNone/>
            </a:pPr>
            <a:r>
              <a:rPr lang="en-US" sz="1050" dirty="0">
                <a:solidFill>
                  <a:srgbClr val="FFFFFF"/>
                </a:solidFill>
                <a:latin typeface="Calibri" pitchFamily="34" charset="0"/>
                <a:ea typeface="Calibri" pitchFamily="34" charset="-122"/>
                <a:cs typeface="Calibri" pitchFamily="34" charset="-120"/>
              </a:rPr>
              <a:t>◆  8000 token output limit</a:t>
            </a:r>
            <a:endParaRPr lang="en-US" sz="1050" dirty="0"/>
          </a:p>
          <a:p>
            <a:pPr indent="0" marL="0">
              <a:lnSpc>
                <a:spcPct val="140000"/>
              </a:lnSpc>
              <a:buNone/>
            </a:pPr>
            <a:r>
              <a:rPr lang="en-US" sz="1050" dirty="0">
                <a:solidFill>
                  <a:srgbClr val="FFFFFF"/>
                </a:solidFill>
                <a:latin typeface="Calibri" pitchFamily="34" charset="0"/>
                <a:ea typeface="Calibri" pitchFamily="34" charset="-122"/>
                <a:cs typeface="Calibri" pitchFamily="34" charset="-120"/>
              </a:rPr>
              <a:t>◆  Severity-coded tables</a:t>
            </a:r>
            <a:endParaRPr lang="en-US" sz="1050" dirty="0"/>
          </a:p>
          <a:p>
            <a:pPr indent="0" marL="0">
              <a:lnSpc>
                <a:spcPct val="140000"/>
              </a:lnSpc>
              <a:buNone/>
            </a:pPr>
            <a:r>
              <a:rPr lang="en-US" sz="1050" dirty="0">
                <a:solidFill>
                  <a:srgbClr val="FFFFFF"/>
                </a:solidFill>
                <a:latin typeface="Calibri" pitchFamily="34" charset="0"/>
                <a:ea typeface="Calibri" pitchFamily="34" charset="-122"/>
                <a:cs typeface="Calibri" pitchFamily="34" charset="-120"/>
              </a:rPr>
              <a:t>◆  Excel export (SheetJS)</a:t>
            </a:r>
            <a:endParaRPr lang="en-US" sz="1050" dirty="0"/>
          </a:p>
          <a:p>
            <a:pPr indent="0" marL="0">
              <a:lnSpc>
                <a:spcPct val="140000"/>
              </a:lnSpc>
              <a:buNone/>
            </a:pPr>
            <a:r>
              <a:rPr lang="en-US" sz="1050" dirty="0">
                <a:solidFill>
                  <a:srgbClr val="FFFFFF"/>
                </a:solidFill>
                <a:latin typeface="Calibri" pitchFamily="34" charset="0"/>
                <a:ea typeface="Calibri" pitchFamily="34" charset="-122"/>
                <a:cs typeface="Calibri" pitchFamily="34" charset="-120"/>
              </a:rPr>
              <a:t>◆  4-tab workbook output</a:t>
            </a:r>
            <a:endParaRPr lang="en-US" sz="1050" dirty="0"/>
          </a:p>
        </p:txBody>
      </p:sp>
      <p:sp>
        <p:nvSpPr>
          <p:cNvPr id="19" name="Text 17"/>
          <p:cNvSpPr/>
          <p:nvPr/>
        </p:nvSpPr>
        <p:spPr>
          <a:xfrm>
            <a:off x="365760" y="4754880"/>
            <a:ext cx="8412480" cy="274320"/>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Single-file deployment · No server required · Runs entirely in the browser · API key stored locally</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1920240" cy="292608"/>
          </a:xfrm>
          <a:prstGeom prst="rect">
            <a:avLst/>
          </a:prstGeom>
          <a:solidFill>
            <a:srgbClr val="E1F5EE"/>
          </a:solidFill>
          <a:ln w="12700">
            <a:solidFill>
              <a:srgbClr val="E1F5EE"/>
            </a:solidFill>
            <a:prstDash val="solid"/>
          </a:ln>
        </p:spPr>
      </p:sp>
      <p:sp>
        <p:nvSpPr>
          <p:cNvPr id="3" name="Text 1"/>
          <p:cNvSpPr/>
          <p:nvPr/>
        </p:nvSpPr>
        <p:spPr>
          <a:xfrm>
            <a:off x="457200" y="274320"/>
            <a:ext cx="1920240" cy="292608"/>
          </a:xfrm>
          <a:prstGeom prst="rect">
            <a:avLst/>
          </a:prstGeom>
          <a:noFill/>
          <a:ln/>
        </p:spPr>
        <p:txBody>
          <a:bodyPr wrap="square" lIns="0" tIns="0" rIns="0" bIns="0" rtlCol="0" anchor="ctr"/>
          <a:lstStyle/>
          <a:p>
            <a:pPr algn="ctr" indent="0" marL="0">
              <a:buNone/>
            </a:pPr>
            <a:r>
              <a:rPr lang="en-US" sz="800" b="1" spc="150" kern="0" dirty="0">
                <a:solidFill>
                  <a:srgbClr val="0F6E56"/>
                </a:solidFill>
              </a:rPr>
              <a:t>LOW-LEVEL ARCHITECTURE</a:t>
            </a:r>
            <a:endParaRPr lang="en-US" sz="800" dirty="0"/>
          </a:p>
        </p:txBody>
      </p:sp>
      <p:sp>
        <p:nvSpPr>
          <p:cNvPr id="4" name="Text 2"/>
          <p:cNvSpPr/>
          <p:nvPr/>
        </p:nvSpPr>
        <p:spPr>
          <a:xfrm>
            <a:off x="457200" y="685800"/>
            <a:ext cx="8229600" cy="594360"/>
          </a:xfrm>
          <a:prstGeom prst="rect">
            <a:avLst/>
          </a:prstGeom>
          <a:noFill/>
          <a:ln/>
        </p:spPr>
        <p:txBody>
          <a:bodyPr wrap="square" lIns="0" tIns="0" rIns="0" bIns="0" rtlCol="0" anchor="ctr"/>
          <a:lstStyle/>
          <a:p>
            <a:pPr algn="l" indent="0" marL="0">
              <a:buNone/>
            </a:pPr>
            <a:r>
              <a:rPr lang="en-US" sz="2800" b="1" dirty="0">
                <a:solidFill>
                  <a:srgbClr val="0F172A"/>
                </a:solidFill>
                <a:latin typeface="Calibri" pitchFamily="34" charset="0"/>
                <a:ea typeface="Calibri" pitchFamily="34" charset="-122"/>
                <a:cs typeface="Calibri" pitchFamily="34" charset="-120"/>
              </a:rPr>
              <a:t>Data flow &amp; component design — LLD</a:t>
            </a:r>
            <a:endParaRPr lang="en-US" sz="2800" dirty="0"/>
          </a:p>
        </p:txBody>
      </p:sp>
      <p:sp>
        <p:nvSpPr>
          <p:cNvPr id="5" name="Shape 3"/>
          <p:cNvSpPr/>
          <p:nvPr/>
        </p:nvSpPr>
        <p:spPr>
          <a:xfrm>
            <a:off x="274320" y="1417320"/>
            <a:ext cx="2377440" cy="3383280"/>
          </a:xfrm>
          <a:prstGeom prst="rect">
            <a:avLst/>
          </a:prstGeom>
          <a:solidFill>
            <a:srgbClr val="F8FAFC"/>
          </a:solidFill>
          <a:ln w="12700">
            <a:solidFill>
              <a:srgbClr val="CBD5E1"/>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274320" y="1417320"/>
            <a:ext cx="2377440" cy="329184"/>
          </a:xfrm>
          <a:prstGeom prst="rect">
            <a:avLst/>
          </a:prstGeom>
          <a:solidFill>
            <a:srgbClr val="0F6E56"/>
          </a:solidFill>
          <a:ln w="12700">
            <a:solidFill>
              <a:srgbClr val="0F6E56"/>
            </a:solidFill>
            <a:prstDash val="solid"/>
          </a:ln>
        </p:spPr>
      </p:sp>
      <p:sp>
        <p:nvSpPr>
          <p:cNvPr id="7" name="Text 5"/>
          <p:cNvSpPr/>
          <p:nvPr/>
        </p:nvSpPr>
        <p:spPr>
          <a:xfrm>
            <a:off x="274320" y="1417320"/>
            <a:ext cx="2377440" cy="329184"/>
          </a:xfrm>
          <a:prstGeom prst="rect">
            <a:avLst/>
          </a:prstGeom>
          <a:noFill/>
          <a:ln/>
        </p:spPr>
        <p:txBody>
          <a:bodyPr wrap="square" lIns="0" tIns="0" rIns="0" bIns="0" rtlCol="0" anchor="ctr"/>
          <a:lstStyle/>
          <a:p>
            <a:pPr algn="ctr" indent="0" marL="0">
              <a:buNone/>
            </a:pPr>
            <a:r>
              <a:rPr lang="en-US" sz="900" b="1" spc="200" kern="0" dirty="0">
                <a:solidFill>
                  <a:srgbClr val="FFFFFF"/>
                </a:solidFill>
              </a:rPr>
              <a:t>INPUTS</a:t>
            </a:r>
            <a:endParaRPr lang="en-US" sz="900" dirty="0"/>
          </a:p>
        </p:txBody>
      </p:sp>
      <p:sp>
        <p:nvSpPr>
          <p:cNvPr id="8" name="Shape 6"/>
          <p:cNvSpPr/>
          <p:nvPr/>
        </p:nvSpPr>
        <p:spPr>
          <a:xfrm>
            <a:off x="411480" y="1920240"/>
            <a:ext cx="2103120" cy="420624"/>
          </a:xfrm>
          <a:prstGeom prst="rect">
            <a:avLst/>
          </a:prstGeom>
          <a:solidFill>
            <a:srgbClr val="FFFFFF"/>
          </a:solidFill>
          <a:ln w="12700">
            <a:solidFill>
              <a:srgbClr val="E2E8F0"/>
            </a:solidFill>
            <a:prstDash val="solid"/>
          </a:ln>
        </p:spPr>
      </p:sp>
      <p:sp>
        <p:nvSpPr>
          <p:cNvPr id="9" name="Text 7"/>
          <p:cNvSpPr/>
          <p:nvPr/>
        </p:nvSpPr>
        <p:spPr>
          <a:xfrm>
            <a:off x="457200" y="1920240"/>
            <a:ext cx="2011680" cy="420624"/>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Network topology description</a:t>
            </a:r>
            <a:endParaRPr lang="en-US" sz="950" dirty="0"/>
          </a:p>
        </p:txBody>
      </p:sp>
      <p:sp>
        <p:nvSpPr>
          <p:cNvPr id="10" name="Shape 8"/>
          <p:cNvSpPr/>
          <p:nvPr/>
        </p:nvSpPr>
        <p:spPr>
          <a:xfrm>
            <a:off x="411480" y="2459736"/>
            <a:ext cx="2103120" cy="420624"/>
          </a:xfrm>
          <a:prstGeom prst="rect">
            <a:avLst/>
          </a:prstGeom>
          <a:solidFill>
            <a:srgbClr val="FFFFFF"/>
          </a:solidFill>
          <a:ln w="12700">
            <a:solidFill>
              <a:srgbClr val="E2E8F0"/>
            </a:solidFill>
            <a:prstDash val="solid"/>
          </a:ln>
        </p:spPr>
      </p:sp>
      <p:sp>
        <p:nvSpPr>
          <p:cNvPr id="11" name="Text 9"/>
          <p:cNvSpPr/>
          <p:nvPr/>
        </p:nvSpPr>
        <p:spPr>
          <a:xfrm>
            <a:off x="457200" y="2459736"/>
            <a:ext cx="2011680" cy="420624"/>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Security tools (12 options)</a:t>
            </a:r>
            <a:endParaRPr lang="en-US" sz="950" dirty="0"/>
          </a:p>
        </p:txBody>
      </p:sp>
      <p:sp>
        <p:nvSpPr>
          <p:cNvPr id="12" name="Shape 10"/>
          <p:cNvSpPr/>
          <p:nvPr/>
        </p:nvSpPr>
        <p:spPr>
          <a:xfrm>
            <a:off x="411480" y="2999232"/>
            <a:ext cx="2103120" cy="420624"/>
          </a:xfrm>
          <a:prstGeom prst="rect">
            <a:avLst/>
          </a:prstGeom>
          <a:solidFill>
            <a:srgbClr val="FFFFFF"/>
          </a:solidFill>
          <a:ln w="12700">
            <a:solidFill>
              <a:srgbClr val="E2E8F0"/>
            </a:solidFill>
            <a:prstDash val="solid"/>
          </a:ln>
        </p:spPr>
      </p:sp>
      <p:sp>
        <p:nvSpPr>
          <p:cNvPr id="13" name="Text 11"/>
          <p:cNvSpPr/>
          <p:nvPr/>
        </p:nvSpPr>
        <p:spPr>
          <a:xfrm>
            <a:off x="457200" y="2999232"/>
            <a:ext cx="2011680" cy="420624"/>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Compliance requirements (8)</a:t>
            </a:r>
            <a:endParaRPr lang="en-US" sz="950" dirty="0"/>
          </a:p>
        </p:txBody>
      </p:sp>
      <p:sp>
        <p:nvSpPr>
          <p:cNvPr id="14" name="Shape 12"/>
          <p:cNvSpPr/>
          <p:nvPr/>
        </p:nvSpPr>
        <p:spPr>
          <a:xfrm>
            <a:off x="411480" y="3538728"/>
            <a:ext cx="2103120" cy="420624"/>
          </a:xfrm>
          <a:prstGeom prst="rect">
            <a:avLst/>
          </a:prstGeom>
          <a:solidFill>
            <a:srgbClr val="FFFFFF"/>
          </a:solidFill>
          <a:ln w="12700">
            <a:solidFill>
              <a:srgbClr val="E2E8F0"/>
            </a:solidFill>
            <a:prstDash val="solid"/>
          </a:ln>
        </p:spPr>
      </p:sp>
      <p:sp>
        <p:nvSpPr>
          <p:cNvPr id="15" name="Text 13"/>
          <p:cNvSpPr/>
          <p:nvPr/>
        </p:nvSpPr>
        <p:spPr>
          <a:xfrm>
            <a:off x="457200" y="3538728"/>
            <a:ext cx="2011680" cy="420624"/>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Environment type (7 options)</a:t>
            </a:r>
            <a:endParaRPr lang="en-US" sz="950" dirty="0"/>
          </a:p>
        </p:txBody>
      </p:sp>
      <p:sp>
        <p:nvSpPr>
          <p:cNvPr id="16" name="Shape 14"/>
          <p:cNvSpPr/>
          <p:nvPr/>
        </p:nvSpPr>
        <p:spPr>
          <a:xfrm>
            <a:off x="411480" y="4078224"/>
            <a:ext cx="2103120" cy="420624"/>
          </a:xfrm>
          <a:prstGeom prst="rect">
            <a:avLst/>
          </a:prstGeom>
          <a:solidFill>
            <a:srgbClr val="FFFFFF"/>
          </a:solidFill>
          <a:ln w="12700">
            <a:solidFill>
              <a:srgbClr val="E2E8F0"/>
            </a:solidFill>
            <a:prstDash val="solid"/>
          </a:ln>
        </p:spPr>
      </p:sp>
      <p:sp>
        <p:nvSpPr>
          <p:cNvPr id="17" name="Text 15"/>
          <p:cNvSpPr/>
          <p:nvPr/>
        </p:nvSpPr>
        <p:spPr>
          <a:xfrm>
            <a:off x="457200" y="4078224"/>
            <a:ext cx="2011680" cy="420624"/>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Security maturity level (5)</a:t>
            </a:r>
            <a:endParaRPr lang="en-US" sz="950" dirty="0"/>
          </a:p>
        </p:txBody>
      </p:sp>
      <p:sp>
        <p:nvSpPr>
          <p:cNvPr id="18" name="Shape 16"/>
          <p:cNvSpPr/>
          <p:nvPr/>
        </p:nvSpPr>
        <p:spPr>
          <a:xfrm>
            <a:off x="2926080" y="1417320"/>
            <a:ext cx="2926080" cy="3383280"/>
          </a:xfrm>
          <a:prstGeom prst="rect">
            <a:avLst/>
          </a:prstGeom>
          <a:solidFill>
            <a:srgbClr val="F8FAFC"/>
          </a:solidFill>
          <a:ln w="12700">
            <a:solidFill>
              <a:srgbClr val="CBD5E1"/>
            </a:solidFill>
            <a:prstDash val="solid"/>
          </a:ln>
          <a:effectLst>
            <a:outerShdw sx="100000" sy="100000" kx="0" ky="0" algn="bl" rotWithShape="0" blurRad="101600" dist="38100" dir="8100000">
              <a:srgbClr val="000000">
                <a:alpha val="12000"/>
              </a:srgbClr>
            </a:outerShdw>
          </a:effectLst>
        </p:spPr>
      </p:sp>
      <p:sp>
        <p:nvSpPr>
          <p:cNvPr id="19" name="Shape 17"/>
          <p:cNvSpPr/>
          <p:nvPr/>
        </p:nvSpPr>
        <p:spPr>
          <a:xfrm>
            <a:off x="2926080" y="1417320"/>
            <a:ext cx="2926080" cy="329184"/>
          </a:xfrm>
          <a:prstGeom prst="rect">
            <a:avLst/>
          </a:prstGeom>
          <a:solidFill>
            <a:srgbClr val="1A2B3C"/>
          </a:solidFill>
          <a:ln w="12700">
            <a:solidFill>
              <a:srgbClr val="1A2B3C"/>
            </a:solidFill>
            <a:prstDash val="solid"/>
          </a:ln>
        </p:spPr>
      </p:sp>
      <p:sp>
        <p:nvSpPr>
          <p:cNvPr id="20" name="Text 18"/>
          <p:cNvSpPr/>
          <p:nvPr/>
        </p:nvSpPr>
        <p:spPr>
          <a:xfrm>
            <a:off x="2926080" y="1417320"/>
            <a:ext cx="292608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rPr>
              <a:t>PROMPT ENGINE + API CALL</a:t>
            </a:r>
            <a:endParaRPr lang="en-US" sz="900" dirty="0"/>
          </a:p>
        </p:txBody>
      </p:sp>
      <p:sp>
        <p:nvSpPr>
          <p:cNvPr id="21" name="Text 19"/>
          <p:cNvSpPr/>
          <p:nvPr/>
        </p:nvSpPr>
        <p:spPr>
          <a:xfrm>
            <a:off x="3063240" y="1901952"/>
            <a:ext cx="1005840" cy="420624"/>
          </a:xfrm>
          <a:prstGeom prst="rect">
            <a:avLst/>
          </a:prstGeom>
          <a:noFill/>
          <a:ln/>
        </p:spPr>
        <p:txBody>
          <a:bodyPr wrap="square" lIns="0" tIns="0" rIns="0" bIns="0" rtlCol="0" anchor="ctr"/>
          <a:lstStyle/>
          <a:p>
            <a:pPr indent="0" marL="0">
              <a:buNone/>
            </a:pPr>
            <a:r>
              <a:rPr lang="en-US" sz="850" b="1" dirty="0">
                <a:solidFill>
                  <a:srgbClr val="0F6E56"/>
                </a:solidFill>
                <a:latin typeface="Calibri" pitchFamily="34" charset="0"/>
                <a:ea typeface="Calibri" pitchFamily="34" charset="-122"/>
                <a:cs typeface="Calibri" pitchFamily="34" charset="-120"/>
              </a:rPr>
              <a:t>Role injection:</a:t>
            </a:r>
            <a:endParaRPr lang="en-US" sz="850" dirty="0"/>
          </a:p>
        </p:txBody>
      </p:sp>
      <p:sp>
        <p:nvSpPr>
          <p:cNvPr id="22" name="Text 20"/>
          <p:cNvSpPr/>
          <p:nvPr/>
        </p:nvSpPr>
        <p:spPr>
          <a:xfrm>
            <a:off x="4114800" y="1901952"/>
            <a:ext cx="1600200" cy="420624"/>
          </a:xfrm>
          <a:prstGeom prst="rect">
            <a:avLst/>
          </a:prstGeom>
          <a:noFill/>
          <a:ln/>
        </p:spPr>
        <p:txBody>
          <a:bodyPr wrap="square" lIns="0" tIns="0" rIns="0" bIns="0" rtlCol="0" anchor="ctr"/>
          <a:lstStyle/>
          <a:p>
            <a:pPr indent="0" marL="0">
              <a:buNone/>
            </a:pPr>
            <a:r>
              <a:rPr lang="en-US" sz="850" dirty="0">
                <a:solidFill>
                  <a:srgbClr val="334155"/>
                </a:solidFill>
                <a:latin typeface="Calibri" pitchFamily="34" charset="0"/>
                <a:ea typeface="Calibri" pitchFamily="34" charset="-122"/>
                <a:cs typeface="Calibri" pitchFamily="34" charset="-120"/>
              </a:rPr>
              <a:t>Principal Security Architect</a:t>
            </a:r>
            <a:endParaRPr lang="en-US" sz="850" dirty="0"/>
          </a:p>
        </p:txBody>
      </p:sp>
      <p:sp>
        <p:nvSpPr>
          <p:cNvPr id="23" name="Text 21"/>
          <p:cNvSpPr/>
          <p:nvPr/>
        </p:nvSpPr>
        <p:spPr>
          <a:xfrm>
            <a:off x="3063240" y="2386584"/>
            <a:ext cx="1005840" cy="420624"/>
          </a:xfrm>
          <a:prstGeom prst="rect">
            <a:avLst/>
          </a:prstGeom>
          <a:noFill/>
          <a:ln/>
        </p:spPr>
        <p:txBody>
          <a:bodyPr wrap="square" lIns="0" tIns="0" rIns="0" bIns="0" rtlCol="0" anchor="ctr"/>
          <a:lstStyle/>
          <a:p>
            <a:pPr indent="0" marL="0">
              <a:buNone/>
            </a:pPr>
            <a:r>
              <a:rPr lang="en-US" sz="850" b="1" dirty="0">
                <a:solidFill>
                  <a:srgbClr val="0F6E56"/>
                </a:solidFill>
                <a:latin typeface="Calibri" pitchFamily="34" charset="0"/>
                <a:ea typeface="Calibri" pitchFamily="34" charset="-122"/>
                <a:cs typeface="Calibri" pitchFamily="34" charset="-120"/>
              </a:rPr>
              <a:t>Domain context:</a:t>
            </a:r>
            <a:endParaRPr lang="en-US" sz="850" dirty="0"/>
          </a:p>
        </p:txBody>
      </p:sp>
      <p:sp>
        <p:nvSpPr>
          <p:cNvPr id="24" name="Text 22"/>
          <p:cNvSpPr/>
          <p:nvPr/>
        </p:nvSpPr>
        <p:spPr>
          <a:xfrm>
            <a:off x="4114800" y="2386584"/>
            <a:ext cx="1600200" cy="420624"/>
          </a:xfrm>
          <a:prstGeom prst="rect">
            <a:avLst/>
          </a:prstGeom>
          <a:noFill/>
          <a:ln/>
        </p:spPr>
        <p:txBody>
          <a:bodyPr wrap="square" lIns="0" tIns="0" rIns="0" bIns="0" rtlCol="0" anchor="ctr"/>
          <a:lstStyle/>
          <a:p>
            <a:pPr indent="0" marL="0">
              <a:buNone/>
            </a:pPr>
            <a:r>
              <a:rPr lang="en-US" sz="850" dirty="0">
                <a:solidFill>
                  <a:srgbClr val="334155"/>
                </a:solidFill>
                <a:latin typeface="Calibri" pitchFamily="34" charset="0"/>
                <a:ea typeface="Calibri" pitchFamily="34" charset="-122"/>
                <a:cs typeface="Calibri" pitchFamily="34" charset="-120"/>
              </a:rPr>
              <a:t>VMware NSX · vDefend · SASE · ZT</a:t>
            </a:r>
            <a:endParaRPr lang="en-US" sz="850" dirty="0"/>
          </a:p>
        </p:txBody>
      </p:sp>
      <p:sp>
        <p:nvSpPr>
          <p:cNvPr id="25" name="Text 23"/>
          <p:cNvSpPr/>
          <p:nvPr/>
        </p:nvSpPr>
        <p:spPr>
          <a:xfrm>
            <a:off x="3063240" y="2871216"/>
            <a:ext cx="1005840" cy="420624"/>
          </a:xfrm>
          <a:prstGeom prst="rect">
            <a:avLst/>
          </a:prstGeom>
          <a:noFill/>
          <a:ln/>
        </p:spPr>
        <p:txBody>
          <a:bodyPr wrap="square" lIns="0" tIns="0" rIns="0" bIns="0" rtlCol="0" anchor="ctr"/>
          <a:lstStyle/>
          <a:p>
            <a:pPr indent="0" marL="0">
              <a:buNone/>
            </a:pPr>
            <a:r>
              <a:rPr lang="en-US" sz="850" b="1" dirty="0">
                <a:solidFill>
                  <a:srgbClr val="0F6E56"/>
                </a:solidFill>
                <a:latin typeface="Calibri" pitchFamily="34" charset="0"/>
                <a:ea typeface="Calibri" pitchFamily="34" charset="-122"/>
                <a:cs typeface="Calibri" pitchFamily="34" charset="-120"/>
              </a:rPr>
              <a:t>Structured prompt:</a:t>
            </a:r>
            <a:endParaRPr lang="en-US" sz="850" dirty="0"/>
          </a:p>
        </p:txBody>
      </p:sp>
      <p:sp>
        <p:nvSpPr>
          <p:cNvPr id="26" name="Text 24"/>
          <p:cNvSpPr/>
          <p:nvPr/>
        </p:nvSpPr>
        <p:spPr>
          <a:xfrm>
            <a:off x="4114800" y="2871216"/>
            <a:ext cx="1600200" cy="420624"/>
          </a:xfrm>
          <a:prstGeom prst="rect">
            <a:avLst/>
          </a:prstGeom>
          <a:noFill/>
          <a:ln/>
        </p:spPr>
        <p:txBody>
          <a:bodyPr wrap="square" lIns="0" tIns="0" rIns="0" bIns="0" rtlCol="0" anchor="ctr"/>
          <a:lstStyle/>
          <a:p>
            <a:pPr indent="0" marL="0">
              <a:buNone/>
            </a:pPr>
            <a:r>
              <a:rPr lang="en-US" sz="850" dirty="0">
                <a:solidFill>
                  <a:srgbClr val="334155"/>
                </a:solidFill>
                <a:latin typeface="Calibri" pitchFamily="34" charset="0"/>
                <a:ea typeface="Calibri" pitchFamily="34" charset="-122"/>
                <a:cs typeface="Calibri" pitchFamily="34" charset="-120"/>
              </a:rPr>
              <a:t>Env + tools + compliance + topology</a:t>
            </a:r>
            <a:endParaRPr lang="en-US" sz="850" dirty="0"/>
          </a:p>
        </p:txBody>
      </p:sp>
      <p:sp>
        <p:nvSpPr>
          <p:cNvPr id="27" name="Text 25"/>
          <p:cNvSpPr/>
          <p:nvPr/>
        </p:nvSpPr>
        <p:spPr>
          <a:xfrm>
            <a:off x="3063240" y="3355848"/>
            <a:ext cx="1005840" cy="420624"/>
          </a:xfrm>
          <a:prstGeom prst="rect">
            <a:avLst/>
          </a:prstGeom>
          <a:noFill/>
          <a:ln/>
        </p:spPr>
        <p:txBody>
          <a:bodyPr wrap="square" lIns="0" tIns="0" rIns="0" bIns="0" rtlCol="0" anchor="ctr"/>
          <a:lstStyle/>
          <a:p>
            <a:pPr indent="0" marL="0">
              <a:buNone/>
            </a:pPr>
            <a:r>
              <a:rPr lang="en-US" sz="850" b="1" dirty="0">
                <a:solidFill>
                  <a:srgbClr val="0F6E56"/>
                </a:solidFill>
                <a:latin typeface="Calibri" pitchFamily="34" charset="0"/>
                <a:ea typeface="Calibri" pitchFamily="34" charset="-122"/>
                <a:cs typeface="Calibri" pitchFamily="34" charset="-120"/>
              </a:rPr>
              <a:t>JSON schema:</a:t>
            </a:r>
            <a:endParaRPr lang="en-US" sz="850" dirty="0"/>
          </a:p>
        </p:txBody>
      </p:sp>
      <p:sp>
        <p:nvSpPr>
          <p:cNvPr id="28" name="Text 26"/>
          <p:cNvSpPr/>
          <p:nvPr/>
        </p:nvSpPr>
        <p:spPr>
          <a:xfrm>
            <a:off x="4114800" y="3355848"/>
            <a:ext cx="1600200" cy="420624"/>
          </a:xfrm>
          <a:prstGeom prst="rect">
            <a:avLst/>
          </a:prstGeom>
          <a:noFill/>
          <a:ln/>
        </p:spPr>
        <p:txBody>
          <a:bodyPr wrap="square" lIns="0" tIns="0" rIns="0" bIns="0" rtlCol="0" anchor="ctr"/>
          <a:lstStyle/>
          <a:p>
            <a:pPr indent="0" marL="0">
              <a:buNone/>
            </a:pPr>
            <a:r>
              <a:rPr lang="en-US" sz="850" dirty="0">
                <a:solidFill>
                  <a:srgbClr val="334155"/>
                </a:solidFill>
                <a:latin typeface="Calibri" pitchFamily="34" charset="0"/>
                <a:ea typeface="Calibri" pitchFamily="34" charset="-122"/>
                <a:cs typeface="Calibri" pitchFamily="34" charset="-120"/>
              </a:rPr>
              <a:t>7-field structured output definition</a:t>
            </a:r>
            <a:endParaRPr lang="en-US" sz="850" dirty="0"/>
          </a:p>
        </p:txBody>
      </p:sp>
      <p:sp>
        <p:nvSpPr>
          <p:cNvPr id="29" name="Text 27"/>
          <p:cNvSpPr/>
          <p:nvPr/>
        </p:nvSpPr>
        <p:spPr>
          <a:xfrm>
            <a:off x="3063240" y="3840480"/>
            <a:ext cx="1005840" cy="420624"/>
          </a:xfrm>
          <a:prstGeom prst="rect">
            <a:avLst/>
          </a:prstGeom>
          <a:noFill/>
          <a:ln/>
        </p:spPr>
        <p:txBody>
          <a:bodyPr wrap="square" lIns="0" tIns="0" rIns="0" bIns="0" rtlCol="0" anchor="ctr"/>
          <a:lstStyle/>
          <a:p>
            <a:pPr indent="0" marL="0">
              <a:buNone/>
            </a:pPr>
            <a:r>
              <a:rPr lang="en-US" sz="850" b="1" dirty="0">
                <a:solidFill>
                  <a:srgbClr val="0F6E56"/>
                </a:solidFill>
                <a:latin typeface="Calibri" pitchFamily="34" charset="0"/>
                <a:ea typeface="Calibri" pitchFamily="34" charset="-122"/>
                <a:cs typeface="Calibri" pitchFamily="34" charset="-120"/>
              </a:rPr>
              <a:t>Model:</a:t>
            </a:r>
            <a:endParaRPr lang="en-US" sz="850" dirty="0"/>
          </a:p>
        </p:txBody>
      </p:sp>
      <p:sp>
        <p:nvSpPr>
          <p:cNvPr id="30" name="Text 28"/>
          <p:cNvSpPr/>
          <p:nvPr/>
        </p:nvSpPr>
        <p:spPr>
          <a:xfrm>
            <a:off x="4114800" y="3840480"/>
            <a:ext cx="1600200" cy="420624"/>
          </a:xfrm>
          <a:prstGeom prst="rect">
            <a:avLst/>
          </a:prstGeom>
          <a:noFill/>
          <a:ln/>
        </p:spPr>
        <p:txBody>
          <a:bodyPr wrap="square" lIns="0" tIns="0" rIns="0" bIns="0" rtlCol="0" anchor="ctr"/>
          <a:lstStyle/>
          <a:p>
            <a:pPr indent="0" marL="0">
              <a:buNone/>
            </a:pPr>
            <a:r>
              <a:rPr lang="en-US" sz="850" dirty="0">
                <a:solidFill>
                  <a:srgbClr val="334155"/>
                </a:solidFill>
                <a:latin typeface="Calibri" pitchFamily="34" charset="0"/>
                <a:ea typeface="Calibri" pitchFamily="34" charset="-122"/>
                <a:cs typeface="Calibri" pitchFamily="34" charset="-120"/>
              </a:rPr>
              <a:t>claude-haiku-4-5  ·  max 8000 tokens</a:t>
            </a:r>
            <a:endParaRPr lang="en-US" sz="850" dirty="0"/>
          </a:p>
        </p:txBody>
      </p:sp>
      <p:sp>
        <p:nvSpPr>
          <p:cNvPr id="31" name="Text 29"/>
          <p:cNvSpPr/>
          <p:nvPr/>
        </p:nvSpPr>
        <p:spPr>
          <a:xfrm>
            <a:off x="3063240" y="4325112"/>
            <a:ext cx="1005840" cy="420624"/>
          </a:xfrm>
          <a:prstGeom prst="rect">
            <a:avLst/>
          </a:prstGeom>
          <a:noFill/>
          <a:ln/>
        </p:spPr>
        <p:txBody>
          <a:bodyPr wrap="square" lIns="0" tIns="0" rIns="0" bIns="0" rtlCol="0" anchor="ctr"/>
          <a:lstStyle/>
          <a:p>
            <a:pPr indent="0" marL="0">
              <a:buNone/>
            </a:pPr>
            <a:r>
              <a:rPr lang="en-US" sz="850" b="1" dirty="0">
                <a:solidFill>
                  <a:srgbClr val="0F6E56"/>
                </a:solidFill>
                <a:latin typeface="Calibri" pitchFamily="34" charset="0"/>
                <a:ea typeface="Calibri" pitchFamily="34" charset="-122"/>
                <a:cs typeface="Calibri" pitchFamily="34" charset="-120"/>
              </a:rPr>
              <a:t>Auth header:</a:t>
            </a:r>
            <a:endParaRPr lang="en-US" sz="850" dirty="0"/>
          </a:p>
        </p:txBody>
      </p:sp>
      <p:sp>
        <p:nvSpPr>
          <p:cNvPr id="32" name="Text 30"/>
          <p:cNvSpPr/>
          <p:nvPr/>
        </p:nvSpPr>
        <p:spPr>
          <a:xfrm>
            <a:off x="4114800" y="4325112"/>
            <a:ext cx="1600200" cy="420624"/>
          </a:xfrm>
          <a:prstGeom prst="rect">
            <a:avLst/>
          </a:prstGeom>
          <a:noFill/>
          <a:ln/>
        </p:spPr>
        <p:txBody>
          <a:bodyPr wrap="square" lIns="0" tIns="0" rIns="0" bIns="0" rtlCol="0" anchor="ctr"/>
          <a:lstStyle/>
          <a:p>
            <a:pPr indent="0" marL="0">
              <a:buNone/>
            </a:pPr>
            <a:r>
              <a:rPr lang="en-US" sz="850" dirty="0">
                <a:solidFill>
                  <a:srgbClr val="334155"/>
                </a:solidFill>
                <a:latin typeface="Calibri" pitchFamily="34" charset="0"/>
                <a:ea typeface="Calibri" pitchFamily="34" charset="-122"/>
                <a:cs typeface="Calibri" pitchFamily="34" charset="-120"/>
              </a:rPr>
              <a:t>x-api-key (user-provided, local only)</a:t>
            </a:r>
            <a:endParaRPr lang="en-US" sz="850" dirty="0"/>
          </a:p>
        </p:txBody>
      </p:sp>
      <p:sp>
        <p:nvSpPr>
          <p:cNvPr id="33" name="Shape 31"/>
          <p:cNvSpPr/>
          <p:nvPr/>
        </p:nvSpPr>
        <p:spPr>
          <a:xfrm>
            <a:off x="6126480" y="1417320"/>
            <a:ext cx="2560320" cy="3383280"/>
          </a:xfrm>
          <a:prstGeom prst="rect">
            <a:avLst/>
          </a:prstGeom>
          <a:solidFill>
            <a:srgbClr val="F8FAFC"/>
          </a:solidFill>
          <a:ln w="12700">
            <a:solidFill>
              <a:srgbClr val="CBD5E1"/>
            </a:solidFill>
            <a:prstDash val="solid"/>
          </a:ln>
          <a:effectLst>
            <a:outerShdw sx="100000" sy="100000" kx="0" ky="0" algn="bl" rotWithShape="0" blurRad="101600" dist="38100" dir="8100000">
              <a:srgbClr val="000000">
                <a:alpha val="12000"/>
              </a:srgbClr>
            </a:outerShdw>
          </a:effectLst>
        </p:spPr>
      </p:sp>
      <p:sp>
        <p:nvSpPr>
          <p:cNvPr id="34" name="Shape 32"/>
          <p:cNvSpPr/>
          <p:nvPr/>
        </p:nvSpPr>
        <p:spPr>
          <a:xfrm>
            <a:off x="6126480" y="1417320"/>
            <a:ext cx="2560320" cy="329184"/>
          </a:xfrm>
          <a:prstGeom prst="rect">
            <a:avLst/>
          </a:prstGeom>
          <a:solidFill>
            <a:srgbClr val="C9A84C"/>
          </a:solidFill>
          <a:ln w="12700">
            <a:solidFill>
              <a:srgbClr val="C9A84C"/>
            </a:solidFill>
            <a:prstDash val="solid"/>
          </a:ln>
        </p:spPr>
      </p:sp>
      <p:sp>
        <p:nvSpPr>
          <p:cNvPr id="35" name="Text 33"/>
          <p:cNvSpPr/>
          <p:nvPr/>
        </p:nvSpPr>
        <p:spPr>
          <a:xfrm>
            <a:off x="6126480" y="1417320"/>
            <a:ext cx="2560320" cy="329184"/>
          </a:xfrm>
          <a:prstGeom prst="rect">
            <a:avLst/>
          </a:prstGeom>
          <a:noFill/>
          <a:ln/>
        </p:spPr>
        <p:txBody>
          <a:bodyPr wrap="square" lIns="0" tIns="0" rIns="0" bIns="0" rtlCol="0" anchor="ctr"/>
          <a:lstStyle/>
          <a:p>
            <a:pPr algn="ctr" indent="0" marL="0">
              <a:buNone/>
            </a:pPr>
            <a:r>
              <a:rPr lang="en-US" sz="900" b="1" spc="200" kern="0" dirty="0">
                <a:solidFill>
                  <a:srgbClr val="FFFFFF"/>
                </a:solidFill>
              </a:rPr>
              <a:t>OUTPUTS</a:t>
            </a:r>
            <a:endParaRPr lang="en-US" sz="900" dirty="0"/>
          </a:p>
        </p:txBody>
      </p:sp>
      <p:sp>
        <p:nvSpPr>
          <p:cNvPr id="36" name="Shape 34"/>
          <p:cNvSpPr/>
          <p:nvPr/>
        </p:nvSpPr>
        <p:spPr>
          <a:xfrm>
            <a:off x="6263640" y="1901952"/>
            <a:ext cx="2286000" cy="438912"/>
          </a:xfrm>
          <a:prstGeom prst="rect">
            <a:avLst/>
          </a:prstGeom>
          <a:solidFill>
            <a:srgbClr val="FFFFFF"/>
          </a:solidFill>
          <a:ln w="12700">
            <a:solidFill>
              <a:srgbClr val="E2E8F0"/>
            </a:solidFill>
            <a:prstDash val="solid"/>
          </a:ln>
        </p:spPr>
      </p:sp>
      <p:sp>
        <p:nvSpPr>
          <p:cNvPr id="37" name="Shape 35"/>
          <p:cNvSpPr/>
          <p:nvPr/>
        </p:nvSpPr>
        <p:spPr>
          <a:xfrm>
            <a:off x="6263640" y="1901952"/>
            <a:ext cx="73152" cy="438912"/>
          </a:xfrm>
          <a:prstGeom prst="rect">
            <a:avLst/>
          </a:prstGeom>
          <a:solidFill>
            <a:srgbClr val="DC2626"/>
          </a:solidFill>
          <a:ln w="12700">
            <a:solidFill>
              <a:srgbClr val="DC2626"/>
            </a:solidFill>
            <a:prstDash val="solid"/>
          </a:ln>
        </p:spPr>
      </p:sp>
      <p:sp>
        <p:nvSpPr>
          <p:cNvPr id="38" name="Text 36"/>
          <p:cNvSpPr/>
          <p:nvPr/>
        </p:nvSpPr>
        <p:spPr>
          <a:xfrm>
            <a:off x="6400800" y="1901952"/>
            <a:ext cx="1371600" cy="438912"/>
          </a:xfrm>
          <a:prstGeom prst="rect">
            <a:avLst/>
          </a:prstGeom>
          <a:noFill/>
          <a:ln/>
        </p:spPr>
        <p:txBody>
          <a:bodyPr wrap="square" lIns="0" tIns="0" rIns="0" bIns="0" rtlCol="0" anchor="ctr"/>
          <a:lstStyle/>
          <a:p>
            <a:pPr indent="0" marL="0">
              <a:buNone/>
            </a:pPr>
            <a:r>
              <a:rPr lang="en-US" sz="900" b="1" dirty="0">
                <a:solidFill>
                  <a:srgbClr val="0F172A"/>
                </a:solidFill>
              </a:rPr>
              <a:t>Risk score</a:t>
            </a:r>
            <a:endParaRPr lang="en-US" sz="900" dirty="0"/>
          </a:p>
        </p:txBody>
      </p:sp>
      <p:sp>
        <p:nvSpPr>
          <p:cNvPr id="39" name="Shape 37"/>
          <p:cNvSpPr/>
          <p:nvPr/>
        </p:nvSpPr>
        <p:spPr>
          <a:xfrm>
            <a:off x="7772400" y="1993392"/>
            <a:ext cx="777240" cy="256032"/>
          </a:xfrm>
          <a:prstGeom prst="rect">
            <a:avLst/>
          </a:prstGeom>
          <a:solidFill>
            <a:srgbClr val="FEE2E2"/>
          </a:solidFill>
          <a:ln w="12700">
            <a:solidFill>
              <a:srgbClr val="FEE2E2"/>
            </a:solidFill>
            <a:prstDash val="solid"/>
          </a:ln>
        </p:spPr>
      </p:sp>
      <p:sp>
        <p:nvSpPr>
          <p:cNvPr id="40" name="Text 38"/>
          <p:cNvSpPr/>
          <p:nvPr/>
        </p:nvSpPr>
        <p:spPr>
          <a:xfrm>
            <a:off x="7772400" y="1993392"/>
            <a:ext cx="777240" cy="256032"/>
          </a:xfrm>
          <a:prstGeom prst="rect">
            <a:avLst/>
          </a:prstGeom>
          <a:noFill/>
          <a:ln/>
        </p:spPr>
        <p:txBody>
          <a:bodyPr wrap="square" lIns="0" tIns="0" rIns="0" bIns="0" rtlCol="0" anchor="ctr"/>
          <a:lstStyle/>
          <a:p>
            <a:pPr algn="ctr" indent="0" marL="0">
              <a:buNone/>
            </a:pPr>
            <a:r>
              <a:rPr lang="en-US" sz="750" b="1" dirty="0">
                <a:solidFill>
                  <a:srgbClr val="DC2626"/>
                </a:solidFill>
              </a:rPr>
              <a:t>0-100</a:t>
            </a:r>
            <a:endParaRPr lang="en-US" sz="750" dirty="0"/>
          </a:p>
        </p:txBody>
      </p:sp>
      <p:sp>
        <p:nvSpPr>
          <p:cNvPr id="41" name="Shape 39"/>
          <p:cNvSpPr/>
          <p:nvPr/>
        </p:nvSpPr>
        <p:spPr>
          <a:xfrm>
            <a:off x="6263640" y="2450592"/>
            <a:ext cx="2286000" cy="438912"/>
          </a:xfrm>
          <a:prstGeom prst="rect">
            <a:avLst/>
          </a:prstGeom>
          <a:solidFill>
            <a:srgbClr val="FFFFFF"/>
          </a:solidFill>
          <a:ln w="12700">
            <a:solidFill>
              <a:srgbClr val="E2E8F0"/>
            </a:solidFill>
            <a:prstDash val="solid"/>
          </a:ln>
        </p:spPr>
      </p:sp>
      <p:sp>
        <p:nvSpPr>
          <p:cNvPr id="42" name="Shape 40"/>
          <p:cNvSpPr/>
          <p:nvPr/>
        </p:nvSpPr>
        <p:spPr>
          <a:xfrm>
            <a:off x="6263640" y="2450592"/>
            <a:ext cx="73152" cy="438912"/>
          </a:xfrm>
          <a:prstGeom prst="rect">
            <a:avLst/>
          </a:prstGeom>
          <a:solidFill>
            <a:srgbClr val="D97706"/>
          </a:solidFill>
          <a:ln w="12700">
            <a:solidFill>
              <a:srgbClr val="D97706"/>
            </a:solidFill>
            <a:prstDash val="solid"/>
          </a:ln>
        </p:spPr>
      </p:sp>
      <p:sp>
        <p:nvSpPr>
          <p:cNvPr id="43" name="Text 41"/>
          <p:cNvSpPr/>
          <p:nvPr/>
        </p:nvSpPr>
        <p:spPr>
          <a:xfrm>
            <a:off x="6400800" y="2450592"/>
            <a:ext cx="1371600" cy="438912"/>
          </a:xfrm>
          <a:prstGeom prst="rect">
            <a:avLst/>
          </a:prstGeom>
          <a:noFill/>
          <a:ln/>
        </p:spPr>
        <p:txBody>
          <a:bodyPr wrap="square" lIns="0" tIns="0" rIns="0" bIns="0" rtlCol="0" anchor="ctr"/>
          <a:lstStyle/>
          <a:p>
            <a:pPr indent="0" marL="0">
              <a:buNone/>
            </a:pPr>
            <a:r>
              <a:rPr lang="en-US" sz="900" b="1" dirty="0">
                <a:solidFill>
                  <a:srgbClr val="0F172A"/>
                </a:solidFill>
              </a:rPr>
              <a:t>Security gaps table</a:t>
            </a:r>
            <a:endParaRPr lang="en-US" sz="900" dirty="0"/>
          </a:p>
        </p:txBody>
      </p:sp>
      <p:sp>
        <p:nvSpPr>
          <p:cNvPr id="44" name="Shape 42"/>
          <p:cNvSpPr/>
          <p:nvPr/>
        </p:nvSpPr>
        <p:spPr>
          <a:xfrm>
            <a:off x="7772400" y="2542032"/>
            <a:ext cx="777240" cy="256032"/>
          </a:xfrm>
          <a:prstGeom prst="rect">
            <a:avLst/>
          </a:prstGeom>
          <a:solidFill>
            <a:srgbClr val="FEF3C7"/>
          </a:solidFill>
          <a:ln w="12700">
            <a:solidFill>
              <a:srgbClr val="FEF3C7"/>
            </a:solidFill>
            <a:prstDash val="solid"/>
          </a:ln>
        </p:spPr>
      </p:sp>
      <p:sp>
        <p:nvSpPr>
          <p:cNvPr id="45" name="Text 43"/>
          <p:cNvSpPr/>
          <p:nvPr/>
        </p:nvSpPr>
        <p:spPr>
          <a:xfrm>
            <a:off x="7772400" y="2542032"/>
            <a:ext cx="777240" cy="256032"/>
          </a:xfrm>
          <a:prstGeom prst="rect">
            <a:avLst/>
          </a:prstGeom>
          <a:noFill/>
          <a:ln/>
        </p:spPr>
        <p:txBody>
          <a:bodyPr wrap="square" lIns="0" tIns="0" rIns="0" bIns="0" rtlCol="0" anchor="ctr"/>
          <a:lstStyle/>
          <a:p>
            <a:pPr algn="ctr" indent="0" marL="0">
              <a:buNone/>
            </a:pPr>
            <a:r>
              <a:rPr lang="en-US" sz="750" b="1" dirty="0">
                <a:solidFill>
                  <a:srgbClr val="D97706"/>
                </a:solidFill>
              </a:rPr>
              <a:t>Severity-sorted</a:t>
            </a:r>
            <a:endParaRPr lang="en-US" sz="750" dirty="0"/>
          </a:p>
        </p:txBody>
      </p:sp>
      <p:sp>
        <p:nvSpPr>
          <p:cNvPr id="46" name="Shape 44"/>
          <p:cNvSpPr/>
          <p:nvPr/>
        </p:nvSpPr>
        <p:spPr>
          <a:xfrm>
            <a:off x="6263640" y="2999232"/>
            <a:ext cx="2286000" cy="438912"/>
          </a:xfrm>
          <a:prstGeom prst="rect">
            <a:avLst/>
          </a:prstGeom>
          <a:solidFill>
            <a:srgbClr val="FFFFFF"/>
          </a:solidFill>
          <a:ln w="12700">
            <a:solidFill>
              <a:srgbClr val="E2E8F0"/>
            </a:solidFill>
            <a:prstDash val="solid"/>
          </a:ln>
        </p:spPr>
      </p:sp>
      <p:sp>
        <p:nvSpPr>
          <p:cNvPr id="47" name="Shape 45"/>
          <p:cNvSpPr/>
          <p:nvPr/>
        </p:nvSpPr>
        <p:spPr>
          <a:xfrm>
            <a:off x="6263640" y="2999232"/>
            <a:ext cx="73152" cy="438912"/>
          </a:xfrm>
          <a:prstGeom prst="rect">
            <a:avLst/>
          </a:prstGeom>
          <a:solidFill>
            <a:srgbClr val="0F6E56"/>
          </a:solidFill>
          <a:ln w="12700">
            <a:solidFill>
              <a:srgbClr val="0F6E56"/>
            </a:solidFill>
            <a:prstDash val="solid"/>
          </a:ln>
        </p:spPr>
      </p:sp>
      <p:sp>
        <p:nvSpPr>
          <p:cNvPr id="48" name="Text 46"/>
          <p:cNvSpPr/>
          <p:nvPr/>
        </p:nvSpPr>
        <p:spPr>
          <a:xfrm>
            <a:off x="6400800" y="2999232"/>
            <a:ext cx="1371600" cy="438912"/>
          </a:xfrm>
          <a:prstGeom prst="rect">
            <a:avLst/>
          </a:prstGeom>
          <a:noFill/>
          <a:ln/>
        </p:spPr>
        <p:txBody>
          <a:bodyPr wrap="square" lIns="0" tIns="0" rIns="0" bIns="0" rtlCol="0" anchor="ctr"/>
          <a:lstStyle/>
          <a:p>
            <a:pPr indent="0" marL="0">
              <a:buNone/>
            </a:pPr>
            <a:r>
              <a:rPr lang="en-US" sz="900" b="1" dirty="0">
                <a:solidFill>
                  <a:srgbClr val="0F172A"/>
                </a:solidFill>
              </a:rPr>
              <a:t>Hardening recs table</a:t>
            </a:r>
            <a:endParaRPr lang="en-US" sz="900" dirty="0"/>
          </a:p>
        </p:txBody>
      </p:sp>
      <p:sp>
        <p:nvSpPr>
          <p:cNvPr id="49" name="Shape 47"/>
          <p:cNvSpPr/>
          <p:nvPr/>
        </p:nvSpPr>
        <p:spPr>
          <a:xfrm>
            <a:off x="7772400" y="3090672"/>
            <a:ext cx="777240" cy="256032"/>
          </a:xfrm>
          <a:prstGeom prst="rect">
            <a:avLst/>
          </a:prstGeom>
          <a:solidFill>
            <a:srgbClr val="E1F5EE"/>
          </a:solidFill>
          <a:ln w="12700">
            <a:solidFill>
              <a:srgbClr val="E1F5EE"/>
            </a:solidFill>
            <a:prstDash val="solid"/>
          </a:ln>
        </p:spPr>
      </p:sp>
      <p:sp>
        <p:nvSpPr>
          <p:cNvPr id="50" name="Text 48"/>
          <p:cNvSpPr/>
          <p:nvPr/>
        </p:nvSpPr>
        <p:spPr>
          <a:xfrm>
            <a:off x="7772400" y="3090672"/>
            <a:ext cx="777240" cy="256032"/>
          </a:xfrm>
          <a:prstGeom prst="rect">
            <a:avLst/>
          </a:prstGeom>
          <a:noFill/>
          <a:ln/>
        </p:spPr>
        <p:txBody>
          <a:bodyPr wrap="square" lIns="0" tIns="0" rIns="0" bIns="0" rtlCol="0" anchor="ctr"/>
          <a:lstStyle/>
          <a:p>
            <a:pPr algn="ctr" indent="0" marL="0">
              <a:buNone/>
            </a:pPr>
            <a:r>
              <a:rPr lang="en-US" sz="750" b="1" dirty="0">
                <a:solidFill>
                  <a:srgbClr val="0F6E56"/>
                </a:solidFill>
              </a:rPr>
              <a:t>Priority-sorted</a:t>
            </a:r>
            <a:endParaRPr lang="en-US" sz="750" dirty="0"/>
          </a:p>
        </p:txBody>
      </p:sp>
      <p:sp>
        <p:nvSpPr>
          <p:cNvPr id="51" name="Shape 49"/>
          <p:cNvSpPr/>
          <p:nvPr/>
        </p:nvSpPr>
        <p:spPr>
          <a:xfrm>
            <a:off x="6263640" y="3547872"/>
            <a:ext cx="2286000" cy="438912"/>
          </a:xfrm>
          <a:prstGeom prst="rect">
            <a:avLst/>
          </a:prstGeom>
          <a:solidFill>
            <a:srgbClr val="FFFFFF"/>
          </a:solidFill>
          <a:ln w="12700">
            <a:solidFill>
              <a:srgbClr val="E2E8F0"/>
            </a:solidFill>
            <a:prstDash val="solid"/>
          </a:ln>
        </p:spPr>
      </p:sp>
      <p:sp>
        <p:nvSpPr>
          <p:cNvPr id="52" name="Shape 50"/>
          <p:cNvSpPr/>
          <p:nvPr/>
        </p:nvSpPr>
        <p:spPr>
          <a:xfrm>
            <a:off x="6263640" y="3547872"/>
            <a:ext cx="73152" cy="438912"/>
          </a:xfrm>
          <a:prstGeom prst="rect">
            <a:avLst/>
          </a:prstGeom>
          <a:solidFill>
            <a:srgbClr val="2563EB"/>
          </a:solidFill>
          <a:ln w="12700">
            <a:solidFill>
              <a:srgbClr val="2563EB"/>
            </a:solidFill>
            <a:prstDash val="solid"/>
          </a:ln>
        </p:spPr>
      </p:sp>
      <p:sp>
        <p:nvSpPr>
          <p:cNvPr id="53" name="Text 51"/>
          <p:cNvSpPr/>
          <p:nvPr/>
        </p:nvSpPr>
        <p:spPr>
          <a:xfrm>
            <a:off x="6400800" y="3547872"/>
            <a:ext cx="1371600" cy="438912"/>
          </a:xfrm>
          <a:prstGeom prst="rect">
            <a:avLst/>
          </a:prstGeom>
          <a:noFill/>
          <a:ln/>
        </p:spPr>
        <p:txBody>
          <a:bodyPr wrap="square" lIns="0" tIns="0" rIns="0" bIns="0" rtlCol="0" anchor="ctr"/>
          <a:lstStyle/>
          <a:p>
            <a:pPr indent="0" marL="0">
              <a:buNone/>
            </a:pPr>
            <a:r>
              <a:rPr lang="en-US" sz="900" b="1" dirty="0">
                <a:solidFill>
                  <a:srgbClr val="0F172A"/>
                </a:solidFill>
              </a:rPr>
              <a:t>90-day action plan</a:t>
            </a:r>
            <a:endParaRPr lang="en-US" sz="900" dirty="0"/>
          </a:p>
        </p:txBody>
      </p:sp>
      <p:sp>
        <p:nvSpPr>
          <p:cNvPr id="54" name="Shape 52"/>
          <p:cNvSpPr/>
          <p:nvPr/>
        </p:nvSpPr>
        <p:spPr>
          <a:xfrm>
            <a:off x="7772400" y="3639312"/>
            <a:ext cx="777240" cy="256032"/>
          </a:xfrm>
          <a:prstGeom prst="rect">
            <a:avLst/>
          </a:prstGeom>
          <a:solidFill>
            <a:srgbClr val="DBEAFE"/>
          </a:solidFill>
          <a:ln w="12700">
            <a:solidFill>
              <a:srgbClr val="DBEAFE"/>
            </a:solidFill>
            <a:prstDash val="solid"/>
          </a:ln>
        </p:spPr>
      </p:sp>
      <p:sp>
        <p:nvSpPr>
          <p:cNvPr id="55" name="Text 53"/>
          <p:cNvSpPr/>
          <p:nvPr/>
        </p:nvSpPr>
        <p:spPr>
          <a:xfrm>
            <a:off x="7772400" y="3639312"/>
            <a:ext cx="777240" cy="256032"/>
          </a:xfrm>
          <a:prstGeom prst="rect">
            <a:avLst/>
          </a:prstGeom>
          <a:noFill/>
          <a:ln/>
        </p:spPr>
        <p:txBody>
          <a:bodyPr wrap="square" lIns="0" tIns="0" rIns="0" bIns="0" rtlCol="0" anchor="ctr"/>
          <a:lstStyle/>
          <a:p>
            <a:pPr algn="ctr" indent="0" marL="0">
              <a:buNone/>
            </a:pPr>
            <a:r>
              <a:rPr lang="en-US" sz="750" b="1" dirty="0">
                <a:solidFill>
                  <a:srgbClr val="2563EB"/>
                </a:solidFill>
              </a:rPr>
              <a:t>Phased</a:t>
            </a:r>
            <a:endParaRPr lang="en-US" sz="750" dirty="0"/>
          </a:p>
        </p:txBody>
      </p:sp>
      <p:sp>
        <p:nvSpPr>
          <p:cNvPr id="56" name="Shape 54"/>
          <p:cNvSpPr/>
          <p:nvPr/>
        </p:nvSpPr>
        <p:spPr>
          <a:xfrm>
            <a:off x="6263640" y="4096512"/>
            <a:ext cx="2286000" cy="438912"/>
          </a:xfrm>
          <a:prstGeom prst="rect">
            <a:avLst/>
          </a:prstGeom>
          <a:solidFill>
            <a:srgbClr val="FFFFFF"/>
          </a:solidFill>
          <a:ln w="12700">
            <a:solidFill>
              <a:srgbClr val="E2E8F0"/>
            </a:solidFill>
            <a:prstDash val="solid"/>
          </a:ln>
        </p:spPr>
      </p:sp>
      <p:sp>
        <p:nvSpPr>
          <p:cNvPr id="57" name="Shape 55"/>
          <p:cNvSpPr/>
          <p:nvPr/>
        </p:nvSpPr>
        <p:spPr>
          <a:xfrm>
            <a:off x="6263640" y="4096512"/>
            <a:ext cx="73152" cy="438912"/>
          </a:xfrm>
          <a:prstGeom prst="rect">
            <a:avLst/>
          </a:prstGeom>
          <a:solidFill>
            <a:srgbClr val="16A34A"/>
          </a:solidFill>
          <a:ln w="12700">
            <a:solidFill>
              <a:srgbClr val="16A34A"/>
            </a:solidFill>
            <a:prstDash val="solid"/>
          </a:ln>
        </p:spPr>
      </p:sp>
      <p:sp>
        <p:nvSpPr>
          <p:cNvPr id="58" name="Text 56"/>
          <p:cNvSpPr/>
          <p:nvPr/>
        </p:nvSpPr>
        <p:spPr>
          <a:xfrm>
            <a:off x="6400800" y="4096512"/>
            <a:ext cx="1371600" cy="438912"/>
          </a:xfrm>
          <a:prstGeom prst="rect">
            <a:avLst/>
          </a:prstGeom>
          <a:noFill/>
          <a:ln/>
        </p:spPr>
        <p:txBody>
          <a:bodyPr wrap="square" lIns="0" tIns="0" rIns="0" bIns="0" rtlCol="0" anchor="ctr"/>
          <a:lstStyle/>
          <a:p>
            <a:pPr indent="0" marL="0">
              <a:buNone/>
            </a:pPr>
            <a:r>
              <a:rPr lang="en-US" sz="900" b="1" dirty="0">
                <a:solidFill>
                  <a:srgbClr val="0F172A"/>
                </a:solidFill>
              </a:rPr>
              <a:t>Excel workbook</a:t>
            </a:r>
            <a:endParaRPr lang="en-US" sz="900" dirty="0"/>
          </a:p>
        </p:txBody>
      </p:sp>
      <p:sp>
        <p:nvSpPr>
          <p:cNvPr id="59" name="Shape 57"/>
          <p:cNvSpPr/>
          <p:nvPr/>
        </p:nvSpPr>
        <p:spPr>
          <a:xfrm>
            <a:off x="7772400" y="4187952"/>
            <a:ext cx="777240" cy="256032"/>
          </a:xfrm>
          <a:prstGeom prst="rect">
            <a:avLst/>
          </a:prstGeom>
          <a:solidFill>
            <a:srgbClr val="DCFCE7"/>
          </a:solidFill>
          <a:ln w="12700">
            <a:solidFill>
              <a:srgbClr val="DCFCE7"/>
            </a:solidFill>
            <a:prstDash val="solid"/>
          </a:ln>
        </p:spPr>
      </p:sp>
      <p:sp>
        <p:nvSpPr>
          <p:cNvPr id="60" name="Text 58"/>
          <p:cNvSpPr/>
          <p:nvPr/>
        </p:nvSpPr>
        <p:spPr>
          <a:xfrm>
            <a:off x="7772400" y="4187952"/>
            <a:ext cx="777240" cy="256032"/>
          </a:xfrm>
          <a:prstGeom prst="rect">
            <a:avLst/>
          </a:prstGeom>
          <a:noFill/>
          <a:ln/>
        </p:spPr>
        <p:txBody>
          <a:bodyPr wrap="square" lIns="0" tIns="0" rIns="0" bIns="0" rtlCol="0" anchor="ctr"/>
          <a:lstStyle/>
          <a:p>
            <a:pPr algn="ctr" indent="0" marL="0">
              <a:buNone/>
            </a:pPr>
            <a:r>
              <a:rPr lang="en-US" sz="750" b="1" dirty="0">
                <a:solidFill>
                  <a:srgbClr val="16A34A"/>
                </a:solidFill>
              </a:rPr>
              <a:t>4 tabs</a:t>
            </a:r>
            <a:endParaRPr lang="en-US" sz="750" dirty="0"/>
          </a:p>
        </p:txBody>
      </p:sp>
      <p:sp>
        <p:nvSpPr>
          <p:cNvPr id="61" name="Shape 59"/>
          <p:cNvSpPr/>
          <p:nvPr/>
        </p:nvSpPr>
        <p:spPr>
          <a:xfrm>
            <a:off x="2670048" y="3090672"/>
            <a:ext cx="256032" cy="54864"/>
          </a:xfrm>
          <a:prstGeom prst="rect">
            <a:avLst/>
          </a:prstGeom>
          <a:solidFill>
            <a:srgbClr val="0F6E56"/>
          </a:solidFill>
          <a:ln w="12700">
            <a:solidFill>
              <a:srgbClr val="0F6E56"/>
            </a:solidFill>
            <a:prstDash val="solid"/>
          </a:ln>
        </p:spPr>
      </p:sp>
      <p:sp>
        <p:nvSpPr>
          <p:cNvPr id="62" name="Shape 60"/>
          <p:cNvSpPr/>
          <p:nvPr/>
        </p:nvSpPr>
        <p:spPr>
          <a:xfrm>
            <a:off x="5870448" y="3090672"/>
            <a:ext cx="256032" cy="54864"/>
          </a:xfrm>
          <a:prstGeom prst="rect">
            <a:avLst/>
          </a:prstGeom>
          <a:solidFill>
            <a:srgbClr val="C9A84C"/>
          </a:solidFill>
          <a:ln w="12700">
            <a:solidFill>
              <a:srgbClr val="C9A84C"/>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274320"/>
            <a:ext cx="1280160" cy="292608"/>
          </a:xfrm>
          <a:prstGeom prst="rect">
            <a:avLst/>
          </a:prstGeom>
          <a:solidFill>
            <a:srgbClr val="E1F5EE"/>
          </a:solidFill>
          <a:ln w="12700">
            <a:solidFill>
              <a:srgbClr val="E1F5EE"/>
            </a:solidFill>
            <a:prstDash val="solid"/>
          </a:ln>
        </p:spPr>
      </p:sp>
      <p:sp>
        <p:nvSpPr>
          <p:cNvPr id="3" name="Text 1"/>
          <p:cNvSpPr/>
          <p:nvPr/>
        </p:nvSpPr>
        <p:spPr>
          <a:xfrm>
            <a:off x="457200" y="274320"/>
            <a:ext cx="1280160" cy="292608"/>
          </a:xfrm>
          <a:prstGeom prst="rect">
            <a:avLst/>
          </a:prstGeom>
          <a:noFill/>
          <a:ln/>
        </p:spPr>
        <p:txBody>
          <a:bodyPr wrap="square" lIns="0" tIns="0" rIns="0" bIns="0" rtlCol="0" anchor="ctr"/>
          <a:lstStyle/>
          <a:p>
            <a:pPr algn="ctr" indent="0" marL="0">
              <a:buNone/>
            </a:pPr>
            <a:r>
              <a:rPr lang="en-US" sz="800" b="1" spc="150" kern="0" dirty="0">
                <a:solidFill>
                  <a:srgbClr val="0F6E56"/>
                </a:solidFill>
              </a:rPr>
              <a:t>SAMPLE OUTPUT</a:t>
            </a:r>
            <a:endParaRPr lang="en-US" sz="800" dirty="0"/>
          </a:p>
        </p:txBody>
      </p:sp>
      <p:sp>
        <p:nvSpPr>
          <p:cNvPr id="4" name="Text 2"/>
          <p:cNvSpPr/>
          <p:nvPr/>
        </p:nvSpPr>
        <p:spPr>
          <a:xfrm>
            <a:off x="457200" y="685800"/>
            <a:ext cx="8229600" cy="594360"/>
          </a:xfrm>
          <a:prstGeom prst="rect">
            <a:avLst/>
          </a:prstGeom>
          <a:noFill/>
          <a:ln/>
        </p:spPr>
        <p:txBody>
          <a:bodyPr wrap="square" lIns="0" tIns="0" rIns="0" bIns="0" rtlCol="0" anchor="ctr"/>
          <a:lstStyle/>
          <a:p>
            <a:pPr algn="l" indent="0" marL="0">
              <a:buNone/>
            </a:pPr>
            <a:r>
              <a:rPr lang="en-US" sz="3000" b="1" dirty="0">
                <a:solidFill>
                  <a:srgbClr val="0F172A"/>
                </a:solidFill>
                <a:latin typeface="Calibri" pitchFamily="34" charset="0"/>
                <a:ea typeface="Calibri" pitchFamily="34" charset="-122"/>
                <a:cs typeface="Calibri" pitchFamily="34" charset="-120"/>
              </a:rPr>
              <a:t>What the analysis produces</a:t>
            </a:r>
            <a:endParaRPr lang="en-US" sz="3000" dirty="0"/>
          </a:p>
        </p:txBody>
      </p:sp>
      <p:sp>
        <p:nvSpPr>
          <p:cNvPr id="5" name="Shape 3"/>
          <p:cNvSpPr/>
          <p:nvPr/>
        </p:nvSpPr>
        <p:spPr>
          <a:xfrm>
            <a:off x="365760" y="1463040"/>
            <a:ext cx="8412480" cy="8686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502920" y="1554480"/>
            <a:ext cx="685800" cy="685800"/>
          </a:xfrm>
          <a:prstGeom prst="ellipse">
            <a:avLst/>
          </a:prstGeom>
          <a:solidFill>
            <a:srgbClr val="FEE2E2"/>
          </a:solidFill>
          <a:ln w="12700">
            <a:solidFill>
              <a:srgbClr val="DC2626"/>
            </a:solidFill>
            <a:prstDash val="solid"/>
          </a:ln>
        </p:spPr>
      </p:sp>
      <p:sp>
        <p:nvSpPr>
          <p:cNvPr id="7" name="Text 5"/>
          <p:cNvSpPr/>
          <p:nvPr/>
        </p:nvSpPr>
        <p:spPr>
          <a:xfrm>
            <a:off x="502920" y="1554480"/>
            <a:ext cx="685800" cy="685800"/>
          </a:xfrm>
          <a:prstGeom prst="rect">
            <a:avLst/>
          </a:prstGeom>
          <a:noFill/>
          <a:ln/>
        </p:spPr>
        <p:txBody>
          <a:bodyPr wrap="square" lIns="0" tIns="0" rIns="0" bIns="0" rtlCol="0" anchor="ctr"/>
          <a:lstStyle/>
          <a:p>
            <a:pPr algn="ctr" indent="0" marL="0">
              <a:buNone/>
            </a:pPr>
            <a:r>
              <a:rPr lang="en-US" sz="2200" b="1" dirty="0">
                <a:solidFill>
                  <a:srgbClr val="DC2626"/>
                </a:solidFill>
              </a:rPr>
              <a:t>87</a:t>
            </a:r>
            <a:endParaRPr lang="en-US" sz="2200" dirty="0"/>
          </a:p>
        </p:txBody>
      </p:sp>
      <p:sp>
        <p:nvSpPr>
          <p:cNvPr id="8" name="Text 6"/>
          <p:cNvSpPr/>
          <p:nvPr/>
        </p:nvSpPr>
        <p:spPr>
          <a:xfrm>
            <a:off x="1325880" y="1572768"/>
            <a:ext cx="4572000" cy="320040"/>
          </a:xfrm>
          <a:prstGeom prst="rect">
            <a:avLst/>
          </a:prstGeom>
          <a:noFill/>
          <a:ln/>
        </p:spPr>
        <p:txBody>
          <a:bodyPr wrap="square" lIns="0" tIns="0" rIns="0" bIns="0" rtlCol="0" anchor="ctr"/>
          <a:lstStyle/>
          <a:p>
            <a:pPr indent="0" marL="0">
              <a:buNone/>
            </a:pPr>
            <a:r>
              <a:rPr lang="en-US" sz="1300" b="1" dirty="0">
                <a:solidFill>
                  <a:srgbClr val="DC2626"/>
                </a:solidFill>
                <a:latin typeface="Calibri" pitchFamily="34" charset="0"/>
                <a:ea typeface="Calibri" pitchFamily="34" charset="-122"/>
                <a:cs typeface="Calibri" pitchFamily="34" charset="-120"/>
              </a:rPr>
              <a:t>CRITICAL RISK  ·  Overall score: 87/100</a:t>
            </a:r>
            <a:endParaRPr lang="en-US" sz="1300" dirty="0"/>
          </a:p>
        </p:txBody>
      </p:sp>
      <p:sp>
        <p:nvSpPr>
          <p:cNvPr id="9" name="Text 7"/>
          <p:cNvSpPr/>
          <p:nvPr/>
        </p:nvSpPr>
        <p:spPr>
          <a:xfrm>
            <a:off x="1325880" y="1920240"/>
            <a:ext cx="5943600" cy="320040"/>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The environment exhibits severe security deficiencies including no microsegmentation, legacy VPN with no MFA, and unreviewed firewall rulesets.</a:t>
            </a:r>
            <a:endParaRPr lang="en-US" sz="950" dirty="0"/>
          </a:p>
        </p:txBody>
      </p:sp>
      <p:sp>
        <p:nvSpPr>
          <p:cNvPr id="10" name="Text 8"/>
          <p:cNvSpPr/>
          <p:nvPr/>
        </p:nvSpPr>
        <p:spPr>
          <a:xfrm>
            <a:off x="7406640" y="1536192"/>
            <a:ext cx="274320" cy="411480"/>
          </a:xfrm>
          <a:prstGeom prst="rect">
            <a:avLst/>
          </a:prstGeom>
          <a:noFill/>
          <a:ln/>
        </p:spPr>
        <p:txBody>
          <a:bodyPr wrap="square" lIns="0" tIns="0" rIns="0" bIns="0" rtlCol="0" anchor="ctr"/>
          <a:lstStyle/>
          <a:p>
            <a:pPr algn="ctr" indent="0" marL="0">
              <a:buNone/>
            </a:pPr>
            <a:r>
              <a:rPr lang="en-US" sz="1800" b="1" dirty="0">
                <a:solidFill>
                  <a:srgbClr val="DC2626"/>
                </a:solidFill>
              </a:rPr>
              <a:t>5</a:t>
            </a:r>
            <a:endParaRPr lang="en-US" sz="1800" dirty="0"/>
          </a:p>
        </p:txBody>
      </p:sp>
      <p:sp>
        <p:nvSpPr>
          <p:cNvPr id="11" name="Text 9"/>
          <p:cNvSpPr/>
          <p:nvPr/>
        </p:nvSpPr>
        <p:spPr>
          <a:xfrm>
            <a:off x="7360920" y="1947672"/>
            <a:ext cx="365760" cy="274320"/>
          </a:xfrm>
          <a:prstGeom prst="rect">
            <a:avLst/>
          </a:prstGeom>
          <a:noFill/>
          <a:ln/>
        </p:spPr>
        <p:txBody>
          <a:bodyPr wrap="square" lIns="0" tIns="0" rIns="0" bIns="0" rtlCol="0" anchor="ctr"/>
          <a:lstStyle/>
          <a:p>
            <a:pPr algn="ctr" indent="0" marL="0">
              <a:buNone/>
            </a:pPr>
            <a:r>
              <a:rPr lang="en-US" sz="700" dirty="0">
                <a:solidFill>
                  <a:srgbClr val="94A3B8"/>
                </a:solidFill>
              </a:rPr>
              <a:t>Critical</a:t>
            </a:r>
            <a:endParaRPr lang="en-US" sz="700" dirty="0"/>
          </a:p>
        </p:txBody>
      </p:sp>
      <p:sp>
        <p:nvSpPr>
          <p:cNvPr id="12" name="Text 10"/>
          <p:cNvSpPr/>
          <p:nvPr/>
        </p:nvSpPr>
        <p:spPr>
          <a:xfrm>
            <a:off x="7726680" y="1536192"/>
            <a:ext cx="274320" cy="411480"/>
          </a:xfrm>
          <a:prstGeom prst="rect">
            <a:avLst/>
          </a:prstGeom>
          <a:noFill/>
          <a:ln/>
        </p:spPr>
        <p:txBody>
          <a:bodyPr wrap="square" lIns="0" tIns="0" rIns="0" bIns="0" rtlCol="0" anchor="ctr"/>
          <a:lstStyle/>
          <a:p>
            <a:pPr algn="ctr" indent="0" marL="0">
              <a:buNone/>
            </a:pPr>
            <a:r>
              <a:rPr lang="en-US" sz="1800" b="1" dirty="0">
                <a:solidFill>
                  <a:srgbClr val="D97706"/>
                </a:solidFill>
              </a:rPr>
              <a:t>7</a:t>
            </a:r>
            <a:endParaRPr lang="en-US" sz="1800" dirty="0"/>
          </a:p>
        </p:txBody>
      </p:sp>
      <p:sp>
        <p:nvSpPr>
          <p:cNvPr id="13" name="Text 11"/>
          <p:cNvSpPr/>
          <p:nvPr/>
        </p:nvSpPr>
        <p:spPr>
          <a:xfrm>
            <a:off x="7680960" y="1947672"/>
            <a:ext cx="365760" cy="274320"/>
          </a:xfrm>
          <a:prstGeom prst="rect">
            <a:avLst/>
          </a:prstGeom>
          <a:noFill/>
          <a:ln/>
        </p:spPr>
        <p:txBody>
          <a:bodyPr wrap="square" lIns="0" tIns="0" rIns="0" bIns="0" rtlCol="0" anchor="ctr"/>
          <a:lstStyle/>
          <a:p>
            <a:pPr algn="ctr" indent="0" marL="0">
              <a:buNone/>
            </a:pPr>
            <a:r>
              <a:rPr lang="en-US" sz="700" dirty="0">
                <a:solidFill>
                  <a:srgbClr val="94A3B8"/>
                </a:solidFill>
              </a:rPr>
              <a:t>High</a:t>
            </a:r>
            <a:endParaRPr lang="en-US" sz="700" dirty="0"/>
          </a:p>
        </p:txBody>
      </p:sp>
      <p:sp>
        <p:nvSpPr>
          <p:cNvPr id="14" name="Text 12"/>
          <p:cNvSpPr/>
          <p:nvPr/>
        </p:nvSpPr>
        <p:spPr>
          <a:xfrm>
            <a:off x="8046720" y="1536192"/>
            <a:ext cx="274320" cy="411480"/>
          </a:xfrm>
          <a:prstGeom prst="rect">
            <a:avLst/>
          </a:prstGeom>
          <a:noFill/>
          <a:ln/>
        </p:spPr>
        <p:txBody>
          <a:bodyPr wrap="square" lIns="0" tIns="0" rIns="0" bIns="0" rtlCol="0" anchor="ctr"/>
          <a:lstStyle/>
          <a:p>
            <a:pPr algn="ctr" indent="0" marL="0">
              <a:buNone/>
            </a:pPr>
            <a:r>
              <a:rPr lang="en-US" sz="1800" b="1" dirty="0">
                <a:solidFill>
                  <a:srgbClr val="2563EB"/>
                </a:solidFill>
              </a:rPr>
              <a:t>4</a:t>
            </a:r>
            <a:endParaRPr lang="en-US" sz="1800" dirty="0"/>
          </a:p>
        </p:txBody>
      </p:sp>
      <p:sp>
        <p:nvSpPr>
          <p:cNvPr id="15" name="Text 13"/>
          <p:cNvSpPr/>
          <p:nvPr/>
        </p:nvSpPr>
        <p:spPr>
          <a:xfrm>
            <a:off x="8001000" y="1947672"/>
            <a:ext cx="365760" cy="274320"/>
          </a:xfrm>
          <a:prstGeom prst="rect">
            <a:avLst/>
          </a:prstGeom>
          <a:noFill/>
          <a:ln/>
        </p:spPr>
        <p:txBody>
          <a:bodyPr wrap="square" lIns="0" tIns="0" rIns="0" bIns="0" rtlCol="0" anchor="ctr"/>
          <a:lstStyle/>
          <a:p>
            <a:pPr algn="ctr" indent="0" marL="0">
              <a:buNone/>
            </a:pPr>
            <a:r>
              <a:rPr lang="en-US" sz="700" dirty="0">
                <a:solidFill>
                  <a:srgbClr val="94A3B8"/>
                </a:solidFill>
              </a:rPr>
              <a:t>Medium</a:t>
            </a:r>
            <a:endParaRPr lang="en-US" sz="700" dirty="0"/>
          </a:p>
        </p:txBody>
      </p:sp>
      <p:sp>
        <p:nvSpPr>
          <p:cNvPr id="16" name="Text 14"/>
          <p:cNvSpPr/>
          <p:nvPr/>
        </p:nvSpPr>
        <p:spPr>
          <a:xfrm>
            <a:off x="8366760" y="1536192"/>
            <a:ext cx="274320" cy="411480"/>
          </a:xfrm>
          <a:prstGeom prst="rect">
            <a:avLst/>
          </a:prstGeom>
          <a:noFill/>
          <a:ln/>
        </p:spPr>
        <p:txBody>
          <a:bodyPr wrap="square" lIns="0" tIns="0" rIns="0" bIns="0" rtlCol="0" anchor="ctr"/>
          <a:lstStyle/>
          <a:p>
            <a:pPr algn="ctr" indent="0" marL="0">
              <a:buNone/>
            </a:pPr>
            <a:r>
              <a:rPr lang="en-US" sz="1800" b="1" dirty="0">
                <a:solidFill>
                  <a:srgbClr val="475569"/>
                </a:solidFill>
              </a:rPr>
              <a:t>12</a:t>
            </a:r>
            <a:endParaRPr lang="en-US" sz="1800" dirty="0"/>
          </a:p>
        </p:txBody>
      </p:sp>
      <p:sp>
        <p:nvSpPr>
          <p:cNvPr id="17" name="Text 15"/>
          <p:cNvSpPr/>
          <p:nvPr/>
        </p:nvSpPr>
        <p:spPr>
          <a:xfrm>
            <a:off x="8321040" y="1947672"/>
            <a:ext cx="365760" cy="274320"/>
          </a:xfrm>
          <a:prstGeom prst="rect">
            <a:avLst/>
          </a:prstGeom>
          <a:noFill/>
          <a:ln/>
        </p:spPr>
        <p:txBody>
          <a:bodyPr wrap="square" lIns="0" tIns="0" rIns="0" bIns="0" rtlCol="0" anchor="ctr"/>
          <a:lstStyle/>
          <a:p>
            <a:pPr algn="ctr" indent="0" marL="0">
              <a:buNone/>
            </a:pPr>
            <a:r>
              <a:rPr lang="en-US" sz="700" dirty="0">
                <a:solidFill>
                  <a:srgbClr val="94A3B8"/>
                </a:solidFill>
              </a:rPr>
              <a:t>Recs</a:t>
            </a:r>
            <a:endParaRPr lang="en-US" sz="700" dirty="0"/>
          </a:p>
        </p:txBody>
      </p:sp>
      <p:sp>
        <p:nvSpPr>
          <p:cNvPr id="18" name="Shape 16"/>
          <p:cNvSpPr/>
          <p:nvPr/>
        </p:nvSpPr>
        <p:spPr>
          <a:xfrm>
            <a:off x="365760" y="2468880"/>
            <a:ext cx="8412480" cy="320040"/>
          </a:xfrm>
          <a:prstGeom prst="rect">
            <a:avLst/>
          </a:prstGeom>
          <a:solidFill>
            <a:srgbClr val="0D1B2A"/>
          </a:solidFill>
          <a:ln w="12700">
            <a:solidFill>
              <a:srgbClr val="0D1B2A"/>
            </a:solidFill>
            <a:prstDash val="solid"/>
          </a:ln>
        </p:spPr>
      </p:sp>
      <p:sp>
        <p:nvSpPr>
          <p:cNvPr id="19" name="Text 17"/>
          <p:cNvSpPr/>
          <p:nvPr/>
        </p:nvSpPr>
        <p:spPr>
          <a:xfrm>
            <a:off x="502920" y="2468880"/>
            <a:ext cx="1005840" cy="320040"/>
          </a:xfrm>
          <a:prstGeom prst="rect">
            <a:avLst/>
          </a:prstGeom>
          <a:noFill/>
          <a:ln/>
        </p:spPr>
        <p:txBody>
          <a:bodyPr wrap="square" lIns="0" tIns="0" rIns="0" bIns="0" rtlCol="0" anchor="ctr"/>
          <a:lstStyle/>
          <a:p>
            <a:pPr indent="0" marL="0">
              <a:buNone/>
            </a:pPr>
            <a:r>
              <a:rPr lang="en-US" sz="800" b="1" spc="100" kern="0" dirty="0">
                <a:solidFill>
                  <a:srgbClr val="94A3B8"/>
                </a:solidFill>
              </a:rPr>
              <a:t>SEVERITY</a:t>
            </a:r>
            <a:endParaRPr lang="en-US" sz="800" dirty="0"/>
          </a:p>
        </p:txBody>
      </p:sp>
      <p:sp>
        <p:nvSpPr>
          <p:cNvPr id="20" name="Text 18"/>
          <p:cNvSpPr/>
          <p:nvPr/>
        </p:nvSpPr>
        <p:spPr>
          <a:xfrm>
            <a:off x="1554480" y="2468880"/>
            <a:ext cx="2286000" cy="320040"/>
          </a:xfrm>
          <a:prstGeom prst="rect">
            <a:avLst/>
          </a:prstGeom>
          <a:noFill/>
          <a:ln/>
        </p:spPr>
        <p:txBody>
          <a:bodyPr wrap="square" lIns="0" tIns="0" rIns="0" bIns="0" rtlCol="0" anchor="ctr"/>
          <a:lstStyle/>
          <a:p>
            <a:pPr indent="0" marL="0">
              <a:buNone/>
            </a:pPr>
            <a:r>
              <a:rPr lang="en-US" sz="800" b="1" spc="100" kern="0" dirty="0">
                <a:solidFill>
                  <a:srgbClr val="94A3B8"/>
                </a:solidFill>
              </a:rPr>
              <a:t>GAP / RISK AREA</a:t>
            </a:r>
            <a:endParaRPr lang="en-US" sz="800" dirty="0"/>
          </a:p>
        </p:txBody>
      </p:sp>
      <p:sp>
        <p:nvSpPr>
          <p:cNvPr id="21" name="Text 19"/>
          <p:cNvSpPr/>
          <p:nvPr/>
        </p:nvSpPr>
        <p:spPr>
          <a:xfrm>
            <a:off x="3931920" y="2468880"/>
            <a:ext cx="2560320" cy="320040"/>
          </a:xfrm>
          <a:prstGeom prst="rect">
            <a:avLst/>
          </a:prstGeom>
          <a:noFill/>
          <a:ln/>
        </p:spPr>
        <p:txBody>
          <a:bodyPr wrap="square" lIns="0" tIns="0" rIns="0" bIns="0" rtlCol="0" anchor="ctr"/>
          <a:lstStyle/>
          <a:p>
            <a:pPr indent="0" marL="0">
              <a:buNone/>
            </a:pPr>
            <a:r>
              <a:rPr lang="en-US" sz="800" b="1" spc="100" kern="0" dirty="0">
                <a:solidFill>
                  <a:srgbClr val="94A3B8"/>
                </a:solidFill>
              </a:rPr>
              <a:t>DESCRIPTION</a:t>
            </a:r>
            <a:endParaRPr lang="en-US" sz="800" dirty="0"/>
          </a:p>
        </p:txBody>
      </p:sp>
      <p:sp>
        <p:nvSpPr>
          <p:cNvPr id="22" name="Text 20"/>
          <p:cNvSpPr/>
          <p:nvPr/>
        </p:nvSpPr>
        <p:spPr>
          <a:xfrm>
            <a:off x="6583680" y="2468880"/>
            <a:ext cx="2103120" cy="320040"/>
          </a:xfrm>
          <a:prstGeom prst="rect">
            <a:avLst/>
          </a:prstGeom>
          <a:noFill/>
          <a:ln/>
        </p:spPr>
        <p:txBody>
          <a:bodyPr wrap="square" lIns="0" tIns="0" rIns="0" bIns="0" rtlCol="0" anchor="ctr"/>
          <a:lstStyle/>
          <a:p>
            <a:pPr indent="0" marL="0">
              <a:buNone/>
            </a:pPr>
            <a:r>
              <a:rPr lang="en-US" sz="800" b="1" spc="100" kern="0" dirty="0">
                <a:solidFill>
                  <a:srgbClr val="94A3B8"/>
                </a:solidFill>
              </a:rPr>
              <a:t>RECOMMENDED ACTION</a:t>
            </a:r>
            <a:endParaRPr lang="en-US" sz="800" dirty="0"/>
          </a:p>
        </p:txBody>
      </p:sp>
      <p:sp>
        <p:nvSpPr>
          <p:cNvPr id="23" name="Shape 21"/>
          <p:cNvSpPr/>
          <p:nvPr/>
        </p:nvSpPr>
        <p:spPr>
          <a:xfrm>
            <a:off x="365760" y="2807208"/>
            <a:ext cx="8412480" cy="594360"/>
          </a:xfrm>
          <a:prstGeom prst="rect">
            <a:avLst/>
          </a:prstGeom>
          <a:solidFill>
            <a:srgbClr val="FFF5F5"/>
          </a:solidFill>
          <a:ln w="12700">
            <a:solidFill>
              <a:srgbClr val="E2E8F0"/>
            </a:solidFill>
            <a:prstDash val="solid"/>
          </a:ln>
        </p:spPr>
      </p:sp>
      <p:sp>
        <p:nvSpPr>
          <p:cNvPr id="24" name="Shape 22"/>
          <p:cNvSpPr/>
          <p:nvPr/>
        </p:nvSpPr>
        <p:spPr>
          <a:xfrm>
            <a:off x="365760" y="2807208"/>
            <a:ext cx="54864" cy="594360"/>
          </a:xfrm>
          <a:prstGeom prst="rect">
            <a:avLst/>
          </a:prstGeom>
          <a:solidFill>
            <a:srgbClr val="DC2626"/>
          </a:solidFill>
          <a:ln w="12700">
            <a:solidFill>
              <a:srgbClr val="DC2626"/>
            </a:solidFill>
            <a:prstDash val="solid"/>
          </a:ln>
        </p:spPr>
      </p:sp>
      <p:sp>
        <p:nvSpPr>
          <p:cNvPr id="25" name="Shape 23"/>
          <p:cNvSpPr/>
          <p:nvPr/>
        </p:nvSpPr>
        <p:spPr>
          <a:xfrm>
            <a:off x="530352" y="2926080"/>
            <a:ext cx="822960" cy="274320"/>
          </a:xfrm>
          <a:prstGeom prst="rect">
            <a:avLst/>
          </a:prstGeom>
          <a:solidFill>
            <a:srgbClr val="FEE2E2"/>
          </a:solidFill>
          <a:ln w="12700">
            <a:solidFill>
              <a:srgbClr val="FEE2E2"/>
            </a:solidFill>
            <a:prstDash val="solid"/>
          </a:ln>
        </p:spPr>
      </p:sp>
      <p:sp>
        <p:nvSpPr>
          <p:cNvPr id="26" name="Text 24"/>
          <p:cNvSpPr/>
          <p:nvPr/>
        </p:nvSpPr>
        <p:spPr>
          <a:xfrm>
            <a:off x="530352" y="2926080"/>
            <a:ext cx="822960" cy="274320"/>
          </a:xfrm>
          <a:prstGeom prst="rect">
            <a:avLst/>
          </a:prstGeom>
          <a:noFill/>
          <a:ln/>
        </p:spPr>
        <p:txBody>
          <a:bodyPr wrap="square" lIns="0" tIns="0" rIns="0" bIns="0" rtlCol="0" anchor="ctr"/>
          <a:lstStyle/>
          <a:p>
            <a:pPr algn="ctr" indent="0" marL="0">
              <a:buNone/>
            </a:pPr>
            <a:r>
              <a:rPr lang="en-US" sz="800" b="1" dirty="0">
                <a:solidFill>
                  <a:srgbClr val="DC2626"/>
                </a:solidFill>
              </a:rPr>
              <a:t>Critical</a:t>
            </a:r>
            <a:endParaRPr lang="en-US" sz="800" dirty="0"/>
          </a:p>
        </p:txBody>
      </p:sp>
      <p:sp>
        <p:nvSpPr>
          <p:cNvPr id="27" name="Text 25"/>
          <p:cNvSpPr/>
          <p:nvPr/>
        </p:nvSpPr>
        <p:spPr>
          <a:xfrm>
            <a:off x="1554480" y="2807208"/>
            <a:ext cx="2286000" cy="594360"/>
          </a:xfrm>
          <a:prstGeom prst="rect">
            <a:avLst/>
          </a:prstGeom>
          <a:noFill/>
          <a:ln/>
        </p:spPr>
        <p:txBody>
          <a:bodyPr wrap="square" lIns="0" tIns="0" rIns="0" bIns="0" rtlCol="0" anchor="ctr"/>
          <a:lstStyle/>
          <a:p>
            <a:pPr indent="0" marL="0">
              <a:buNone/>
            </a:pPr>
            <a:r>
              <a:rPr lang="en-US" sz="950" b="1" dirty="0">
                <a:solidFill>
                  <a:srgbClr val="0F172A"/>
                </a:solidFill>
              </a:rPr>
              <a:t>No Microsegmentation</a:t>
            </a:r>
            <a:endParaRPr lang="en-US" sz="950" dirty="0"/>
          </a:p>
        </p:txBody>
      </p:sp>
      <p:sp>
        <p:nvSpPr>
          <p:cNvPr id="28" name="Text 26"/>
          <p:cNvSpPr/>
          <p:nvPr/>
        </p:nvSpPr>
        <p:spPr>
          <a:xfrm>
            <a:off x="3931920" y="2807208"/>
            <a:ext cx="2560320" cy="594360"/>
          </a:xfrm>
          <a:prstGeom prst="rect">
            <a:avLst/>
          </a:prstGeom>
          <a:noFill/>
          <a:ln/>
        </p:spPr>
        <p:txBody>
          <a:bodyPr wrap="square" lIns="0" tIns="0" rIns="0" bIns="0" rtlCol="0" anchor="ctr"/>
          <a:lstStyle/>
          <a:p>
            <a:pPr indent="0" marL="0">
              <a:buNone/>
            </a:pPr>
            <a:r>
              <a:rPr lang="en-US" sz="900" dirty="0">
                <a:solidFill>
                  <a:srgbClr val="334155"/>
                </a:solidFill>
              </a:rPr>
              <a:t>NSX deployed but DFW unused. 400+ workloads communicate freely.</a:t>
            </a:r>
            <a:endParaRPr lang="en-US" sz="900" dirty="0"/>
          </a:p>
        </p:txBody>
      </p:sp>
      <p:sp>
        <p:nvSpPr>
          <p:cNvPr id="29" name="Text 27"/>
          <p:cNvSpPr/>
          <p:nvPr/>
        </p:nvSpPr>
        <p:spPr>
          <a:xfrm>
            <a:off x="6583680" y="2807208"/>
            <a:ext cx="2103120" cy="594360"/>
          </a:xfrm>
          <a:prstGeom prst="rect">
            <a:avLst/>
          </a:prstGeom>
          <a:noFill/>
          <a:ln/>
        </p:spPr>
        <p:txBody>
          <a:bodyPr wrap="square" lIns="0" tIns="0" rIns="0" bIns="0" rtlCol="0" anchor="ctr"/>
          <a:lstStyle/>
          <a:p>
            <a:pPr indent="0" marL="0">
              <a:buNone/>
            </a:pPr>
            <a:r>
              <a:rPr lang="en-US" sz="900" dirty="0">
                <a:solidFill>
                  <a:srgbClr val="0F6E56"/>
                </a:solidFill>
              </a:rPr>
              <a:t>Enable NSX DFW. Implement default-deny policies.</a:t>
            </a:r>
            <a:endParaRPr lang="en-US" sz="900" dirty="0"/>
          </a:p>
        </p:txBody>
      </p:sp>
      <p:sp>
        <p:nvSpPr>
          <p:cNvPr id="30" name="Shape 28"/>
          <p:cNvSpPr/>
          <p:nvPr/>
        </p:nvSpPr>
        <p:spPr>
          <a:xfrm>
            <a:off x="365760" y="3465576"/>
            <a:ext cx="8412480" cy="594360"/>
          </a:xfrm>
          <a:prstGeom prst="rect">
            <a:avLst/>
          </a:prstGeom>
          <a:solidFill>
            <a:srgbClr val="FFF5F5"/>
          </a:solidFill>
          <a:ln w="12700">
            <a:solidFill>
              <a:srgbClr val="E2E8F0"/>
            </a:solidFill>
            <a:prstDash val="solid"/>
          </a:ln>
        </p:spPr>
      </p:sp>
      <p:sp>
        <p:nvSpPr>
          <p:cNvPr id="31" name="Shape 29"/>
          <p:cNvSpPr/>
          <p:nvPr/>
        </p:nvSpPr>
        <p:spPr>
          <a:xfrm>
            <a:off x="365760" y="3465576"/>
            <a:ext cx="54864" cy="594360"/>
          </a:xfrm>
          <a:prstGeom prst="rect">
            <a:avLst/>
          </a:prstGeom>
          <a:solidFill>
            <a:srgbClr val="DC2626"/>
          </a:solidFill>
          <a:ln w="12700">
            <a:solidFill>
              <a:srgbClr val="DC2626"/>
            </a:solidFill>
            <a:prstDash val="solid"/>
          </a:ln>
        </p:spPr>
      </p:sp>
      <p:sp>
        <p:nvSpPr>
          <p:cNvPr id="32" name="Shape 30"/>
          <p:cNvSpPr/>
          <p:nvPr/>
        </p:nvSpPr>
        <p:spPr>
          <a:xfrm>
            <a:off x="530352" y="3584448"/>
            <a:ext cx="822960" cy="274320"/>
          </a:xfrm>
          <a:prstGeom prst="rect">
            <a:avLst/>
          </a:prstGeom>
          <a:solidFill>
            <a:srgbClr val="FEE2E2"/>
          </a:solidFill>
          <a:ln w="12700">
            <a:solidFill>
              <a:srgbClr val="FEE2E2"/>
            </a:solidFill>
            <a:prstDash val="solid"/>
          </a:ln>
        </p:spPr>
      </p:sp>
      <p:sp>
        <p:nvSpPr>
          <p:cNvPr id="33" name="Text 31"/>
          <p:cNvSpPr/>
          <p:nvPr/>
        </p:nvSpPr>
        <p:spPr>
          <a:xfrm>
            <a:off x="530352" y="3584448"/>
            <a:ext cx="822960" cy="274320"/>
          </a:xfrm>
          <a:prstGeom prst="rect">
            <a:avLst/>
          </a:prstGeom>
          <a:noFill/>
          <a:ln/>
        </p:spPr>
        <p:txBody>
          <a:bodyPr wrap="square" lIns="0" tIns="0" rIns="0" bIns="0" rtlCol="0" anchor="ctr"/>
          <a:lstStyle/>
          <a:p>
            <a:pPr algn="ctr" indent="0" marL="0">
              <a:buNone/>
            </a:pPr>
            <a:r>
              <a:rPr lang="en-US" sz="800" b="1" dirty="0">
                <a:solidFill>
                  <a:srgbClr val="DC2626"/>
                </a:solidFill>
              </a:rPr>
              <a:t>Critical</a:t>
            </a:r>
            <a:endParaRPr lang="en-US" sz="800" dirty="0"/>
          </a:p>
        </p:txBody>
      </p:sp>
      <p:sp>
        <p:nvSpPr>
          <p:cNvPr id="34" name="Text 32"/>
          <p:cNvSpPr/>
          <p:nvPr/>
        </p:nvSpPr>
        <p:spPr>
          <a:xfrm>
            <a:off x="1554480" y="3465576"/>
            <a:ext cx="2286000" cy="594360"/>
          </a:xfrm>
          <a:prstGeom prst="rect">
            <a:avLst/>
          </a:prstGeom>
          <a:noFill/>
          <a:ln/>
        </p:spPr>
        <p:txBody>
          <a:bodyPr wrap="square" lIns="0" tIns="0" rIns="0" bIns="0" rtlCol="0" anchor="ctr"/>
          <a:lstStyle/>
          <a:p>
            <a:pPr indent="0" marL="0">
              <a:buNone/>
            </a:pPr>
            <a:r>
              <a:rPr lang="en-US" sz="950" b="1" dirty="0">
                <a:solidFill>
                  <a:srgbClr val="0F172A"/>
                </a:solidFill>
              </a:rPr>
              <a:t>Shared VPN Credentials</a:t>
            </a:r>
            <a:endParaRPr lang="en-US" sz="950" dirty="0"/>
          </a:p>
        </p:txBody>
      </p:sp>
      <p:sp>
        <p:nvSpPr>
          <p:cNvPr id="35" name="Text 33"/>
          <p:cNvSpPr/>
          <p:nvPr/>
        </p:nvSpPr>
        <p:spPr>
          <a:xfrm>
            <a:off x="3931920" y="3465576"/>
            <a:ext cx="2560320" cy="594360"/>
          </a:xfrm>
          <a:prstGeom prst="rect">
            <a:avLst/>
          </a:prstGeom>
          <a:noFill/>
          <a:ln/>
        </p:spPr>
        <p:txBody>
          <a:bodyPr wrap="square" lIns="0" tIns="0" rIns="0" bIns="0" rtlCol="0" anchor="ctr"/>
          <a:lstStyle/>
          <a:p>
            <a:pPr indent="0" marL="0">
              <a:buNone/>
            </a:pPr>
            <a:r>
              <a:rPr lang="en-US" sz="900" dirty="0">
                <a:solidFill>
                  <a:srgbClr val="334155"/>
                </a:solidFill>
              </a:rPr>
              <a:t>No MFA on GlobalProtect. Shared credentials across workforce.</a:t>
            </a:r>
            <a:endParaRPr lang="en-US" sz="900" dirty="0"/>
          </a:p>
        </p:txBody>
      </p:sp>
      <p:sp>
        <p:nvSpPr>
          <p:cNvPr id="36" name="Text 34"/>
          <p:cNvSpPr/>
          <p:nvPr/>
        </p:nvSpPr>
        <p:spPr>
          <a:xfrm>
            <a:off x="6583680" y="3465576"/>
            <a:ext cx="2103120" cy="594360"/>
          </a:xfrm>
          <a:prstGeom prst="rect">
            <a:avLst/>
          </a:prstGeom>
          <a:noFill/>
          <a:ln/>
        </p:spPr>
        <p:txBody>
          <a:bodyPr wrap="square" lIns="0" tIns="0" rIns="0" bIns="0" rtlCol="0" anchor="ctr"/>
          <a:lstStyle/>
          <a:p>
            <a:pPr indent="0" marL="0">
              <a:buNone/>
            </a:pPr>
            <a:r>
              <a:rPr lang="en-US" sz="900" dirty="0">
                <a:solidFill>
                  <a:srgbClr val="0F6E56"/>
                </a:solidFill>
              </a:rPr>
              <a:t>Enforce individual accounts + MFA immediately.</a:t>
            </a:r>
            <a:endParaRPr lang="en-US" sz="900" dirty="0"/>
          </a:p>
        </p:txBody>
      </p:sp>
      <p:sp>
        <p:nvSpPr>
          <p:cNvPr id="37" name="Shape 35"/>
          <p:cNvSpPr/>
          <p:nvPr/>
        </p:nvSpPr>
        <p:spPr>
          <a:xfrm>
            <a:off x="365760" y="4123944"/>
            <a:ext cx="8412480" cy="594360"/>
          </a:xfrm>
          <a:prstGeom prst="rect">
            <a:avLst/>
          </a:prstGeom>
          <a:solidFill>
            <a:srgbClr val="FFFBF0"/>
          </a:solidFill>
          <a:ln w="12700">
            <a:solidFill>
              <a:srgbClr val="E2E8F0"/>
            </a:solidFill>
            <a:prstDash val="solid"/>
          </a:ln>
        </p:spPr>
      </p:sp>
      <p:sp>
        <p:nvSpPr>
          <p:cNvPr id="38" name="Shape 36"/>
          <p:cNvSpPr/>
          <p:nvPr/>
        </p:nvSpPr>
        <p:spPr>
          <a:xfrm>
            <a:off x="365760" y="4123944"/>
            <a:ext cx="54864" cy="594360"/>
          </a:xfrm>
          <a:prstGeom prst="rect">
            <a:avLst/>
          </a:prstGeom>
          <a:solidFill>
            <a:srgbClr val="D97706"/>
          </a:solidFill>
          <a:ln w="12700">
            <a:solidFill>
              <a:srgbClr val="D97706"/>
            </a:solidFill>
            <a:prstDash val="solid"/>
          </a:ln>
        </p:spPr>
      </p:sp>
      <p:sp>
        <p:nvSpPr>
          <p:cNvPr id="39" name="Shape 37"/>
          <p:cNvSpPr/>
          <p:nvPr/>
        </p:nvSpPr>
        <p:spPr>
          <a:xfrm>
            <a:off x="530352" y="4242816"/>
            <a:ext cx="822960" cy="274320"/>
          </a:xfrm>
          <a:prstGeom prst="rect">
            <a:avLst/>
          </a:prstGeom>
          <a:solidFill>
            <a:srgbClr val="FEF3C7"/>
          </a:solidFill>
          <a:ln w="12700">
            <a:solidFill>
              <a:srgbClr val="FEF3C7"/>
            </a:solidFill>
            <a:prstDash val="solid"/>
          </a:ln>
        </p:spPr>
      </p:sp>
      <p:sp>
        <p:nvSpPr>
          <p:cNvPr id="40" name="Text 38"/>
          <p:cNvSpPr/>
          <p:nvPr/>
        </p:nvSpPr>
        <p:spPr>
          <a:xfrm>
            <a:off x="530352" y="4242816"/>
            <a:ext cx="822960" cy="274320"/>
          </a:xfrm>
          <a:prstGeom prst="rect">
            <a:avLst/>
          </a:prstGeom>
          <a:noFill/>
          <a:ln/>
        </p:spPr>
        <p:txBody>
          <a:bodyPr wrap="square" lIns="0" tIns="0" rIns="0" bIns="0" rtlCol="0" anchor="ctr"/>
          <a:lstStyle/>
          <a:p>
            <a:pPr algn="ctr" indent="0" marL="0">
              <a:buNone/>
            </a:pPr>
            <a:r>
              <a:rPr lang="en-US" sz="800" b="1" dirty="0">
                <a:solidFill>
                  <a:srgbClr val="D97706"/>
                </a:solidFill>
              </a:rPr>
              <a:t>High</a:t>
            </a:r>
            <a:endParaRPr lang="en-US" sz="800" dirty="0"/>
          </a:p>
        </p:txBody>
      </p:sp>
      <p:sp>
        <p:nvSpPr>
          <p:cNvPr id="41" name="Text 39"/>
          <p:cNvSpPr/>
          <p:nvPr/>
        </p:nvSpPr>
        <p:spPr>
          <a:xfrm>
            <a:off x="1554480" y="4123944"/>
            <a:ext cx="2286000" cy="594360"/>
          </a:xfrm>
          <a:prstGeom prst="rect">
            <a:avLst/>
          </a:prstGeom>
          <a:noFill/>
          <a:ln/>
        </p:spPr>
        <p:txBody>
          <a:bodyPr wrap="square" lIns="0" tIns="0" rIns="0" bIns="0" rtlCol="0" anchor="ctr"/>
          <a:lstStyle/>
          <a:p>
            <a:pPr indent="0" marL="0">
              <a:buNone/>
            </a:pPr>
            <a:r>
              <a:rPr lang="en-US" sz="950" b="1" dirty="0">
                <a:solidFill>
                  <a:srgbClr val="0F172A"/>
                </a:solidFill>
              </a:rPr>
              <a:t>Stale Firewall Ruleset</a:t>
            </a:r>
            <a:endParaRPr lang="en-US" sz="950" dirty="0"/>
          </a:p>
        </p:txBody>
      </p:sp>
      <p:sp>
        <p:nvSpPr>
          <p:cNvPr id="42" name="Text 40"/>
          <p:cNvSpPr/>
          <p:nvPr/>
        </p:nvSpPr>
        <p:spPr>
          <a:xfrm>
            <a:off x="3931920" y="4123944"/>
            <a:ext cx="2560320" cy="594360"/>
          </a:xfrm>
          <a:prstGeom prst="rect">
            <a:avLst/>
          </a:prstGeom>
          <a:noFill/>
          <a:ln/>
        </p:spPr>
        <p:txBody>
          <a:bodyPr wrap="square" lIns="0" tIns="0" rIns="0" bIns="0" rtlCol="0" anchor="ctr"/>
          <a:lstStyle/>
          <a:p>
            <a:pPr indent="0" marL="0">
              <a:buNone/>
            </a:pPr>
            <a:r>
              <a:rPr lang="en-US" sz="900" dirty="0">
                <a:solidFill>
                  <a:srgbClr val="334155"/>
                </a:solidFill>
              </a:rPr>
              <a:t>5-year-old rulebase not reviewed. Shadow rules and gaps.</a:t>
            </a:r>
            <a:endParaRPr lang="en-US" sz="900" dirty="0"/>
          </a:p>
        </p:txBody>
      </p:sp>
      <p:sp>
        <p:nvSpPr>
          <p:cNvPr id="43" name="Text 41"/>
          <p:cNvSpPr/>
          <p:nvPr/>
        </p:nvSpPr>
        <p:spPr>
          <a:xfrm>
            <a:off x="6583680" y="4123944"/>
            <a:ext cx="2103120" cy="594360"/>
          </a:xfrm>
          <a:prstGeom prst="rect">
            <a:avLst/>
          </a:prstGeom>
          <a:noFill/>
          <a:ln/>
        </p:spPr>
        <p:txBody>
          <a:bodyPr wrap="square" lIns="0" tIns="0" rIns="0" bIns="0" rtlCol="0" anchor="ctr"/>
          <a:lstStyle/>
          <a:p>
            <a:pPr indent="0" marL="0">
              <a:buNone/>
            </a:pPr>
            <a:r>
              <a:rPr lang="en-US" sz="900" dirty="0">
                <a:solidFill>
                  <a:srgbClr val="0F6E56"/>
                </a:solidFill>
              </a:rPr>
              <a:t>Conduct full audit. Retire deprecated rules.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457200" y="274320"/>
            <a:ext cx="1097280" cy="292608"/>
          </a:xfrm>
          <a:prstGeom prst="rect">
            <a:avLst/>
          </a:prstGeom>
          <a:solidFill>
            <a:srgbClr val="0F6E56"/>
          </a:solidFill>
          <a:ln w="12700">
            <a:solidFill>
              <a:srgbClr val="0F6E56"/>
            </a:solidFill>
            <a:prstDash val="solid"/>
          </a:ln>
        </p:spPr>
      </p:sp>
      <p:sp>
        <p:nvSpPr>
          <p:cNvPr id="3" name="Text 1"/>
          <p:cNvSpPr/>
          <p:nvPr/>
        </p:nvSpPr>
        <p:spPr>
          <a:xfrm>
            <a:off x="457200" y="274320"/>
            <a:ext cx="109728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KEY BENEFITS</a:t>
            </a:r>
            <a:endParaRPr lang="en-US" sz="800" dirty="0"/>
          </a:p>
        </p:txBody>
      </p:sp>
      <p:sp>
        <p:nvSpPr>
          <p:cNvPr id="4" name="Text 2"/>
          <p:cNvSpPr/>
          <p:nvPr/>
        </p:nvSpPr>
        <p:spPr>
          <a:xfrm>
            <a:off x="457200" y="685800"/>
            <a:ext cx="8229600" cy="59436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Why this matters</a:t>
            </a:r>
            <a:endParaRPr lang="en-US" sz="3000" dirty="0"/>
          </a:p>
        </p:txBody>
      </p:sp>
      <p:sp>
        <p:nvSpPr>
          <p:cNvPr id="5" name="Shape 3"/>
          <p:cNvSpPr/>
          <p:nvPr/>
        </p:nvSpPr>
        <p:spPr>
          <a:xfrm>
            <a:off x="457200" y="1463040"/>
            <a:ext cx="2011680" cy="1371600"/>
          </a:xfrm>
          <a:prstGeom prst="rect">
            <a:avLst/>
          </a:prstGeom>
          <a:solidFill>
            <a:srgbClr val="0D2B22"/>
          </a:solidFill>
          <a:ln w="12700">
            <a:solidFill>
              <a:srgbClr val="0F6E56"/>
            </a:solidFill>
            <a:prstDash val="solid"/>
          </a:ln>
        </p:spPr>
      </p:sp>
      <p:sp>
        <p:nvSpPr>
          <p:cNvPr id="6" name="Text 4"/>
          <p:cNvSpPr/>
          <p:nvPr/>
        </p:nvSpPr>
        <p:spPr>
          <a:xfrm>
            <a:off x="457200" y="1554480"/>
            <a:ext cx="2011680" cy="640080"/>
          </a:xfrm>
          <a:prstGeom prst="rect">
            <a:avLst/>
          </a:prstGeom>
          <a:noFill/>
          <a:ln/>
        </p:spPr>
        <p:txBody>
          <a:bodyPr wrap="square" lIns="0" tIns="0" rIns="0" bIns="0" rtlCol="0" anchor="ctr"/>
          <a:lstStyle/>
          <a:p>
            <a:pPr algn="ctr" indent="0" marL="0">
              <a:buNone/>
            </a:pPr>
            <a:r>
              <a:rPr lang="en-US" sz="4000" b="1" dirty="0">
                <a:solidFill>
                  <a:srgbClr val="C9A84C"/>
                </a:solidFill>
                <a:latin typeface="Calibri" pitchFamily="34" charset="0"/>
                <a:ea typeface="Calibri" pitchFamily="34" charset="-122"/>
                <a:cs typeface="Calibri" pitchFamily="34" charset="-120"/>
              </a:rPr>
              <a:t>15s</a:t>
            </a:r>
            <a:endParaRPr lang="en-US" sz="4000" dirty="0"/>
          </a:p>
        </p:txBody>
      </p:sp>
      <p:sp>
        <p:nvSpPr>
          <p:cNvPr id="7" name="Text 5"/>
          <p:cNvSpPr/>
          <p:nvPr/>
        </p:nvSpPr>
        <p:spPr>
          <a:xfrm>
            <a:off x="457200" y="2194560"/>
            <a:ext cx="201168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Time to full analysis</a:t>
            </a:r>
            <a:endParaRPr lang="en-US" sz="1000" dirty="0"/>
          </a:p>
        </p:txBody>
      </p:sp>
      <p:sp>
        <p:nvSpPr>
          <p:cNvPr id="8" name="Text 6"/>
          <p:cNvSpPr/>
          <p:nvPr/>
        </p:nvSpPr>
        <p:spPr>
          <a:xfrm>
            <a:off x="457200" y="2514600"/>
            <a:ext cx="2011680" cy="256032"/>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vs 2-3 days manually</a:t>
            </a:r>
            <a:endParaRPr lang="en-US" sz="850" dirty="0"/>
          </a:p>
        </p:txBody>
      </p:sp>
      <p:sp>
        <p:nvSpPr>
          <p:cNvPr id="9" name="Shape 7"/>
          <p:cNvSpPr/>
          <p:nvPr/>
        </p:nvSpPr>
        <p:spPr>
          <a:xfrm>
            <a:off x="2633472" y="1463040"/>
            <a:ext cx="2011680" cy="1371600"/>
          </a:xfrm>
          <a:prstGeom prst="rect">
            <a:avLst/>
          </a:prstGeom>
          <a:solidFill>
            <a:srgbClr val="0D2B22"/>
          </a:solidFill>
          <a:ln w="12700">
            <a:solidFill>
              <a:srgbClr val="0F6E56"/>
            </a:solidFill>
            <a:prstDash val="solid"/>
          </a:ln>
        </p:spPr>
      </p:sp>
      <p:sp>
        <p:nvSpPr>
          <p:cNvPr id="10" name="Text 8"/>
          <p:cNvSpPr/>
          <p:nvPr/>
        </p:nvSpPr>
        <p:spPr>
          <a:xfrm>
            <a:off x="2633472" y="1554480"/>
            <a:ext cx="2011680" cy="640080"/>
          </a:xfrm>
          <a:prstGeom prst="rect">
            <a:avLst/>
          </a:prstGeom>
          <a:noFill/>
          <a:ln/>
        </p:spPr>
        <p:txBody>
          <a:bodyPr wrap="square" lIns="0" tIns="0" rIns="0" bIns="0" rtlCol="0" anchor="ctr"/>
          <a:lstStyle/>
          <a:p>
            <a:pPr algn="ctr" indent="0" marL="0">
              <a:buNone/>
            </a:pPr>
            <a:r>
              <a:rPr lang="en-US" sz="4000" b="1" dirty="0">
                <a:solidFill>
                  <a:srgbClr val="C9A84C"/>
                </a:solidFill>
                <a:latin typeface="Calibri" pitchFamily="34" charset="0"/>
                <a:ea typeface="Calibri" pitchFamily="34" charset="-122"/>
                <a:cs typeface="Calibri" pitchFamily="34" charset="-120"/>
              </a:rPr>
              <a:t>100%</a:t>
            </a:r>
            <a:endParaRPr lang="en-US" sz="4000" dirty="0"/>
          </a:p>
        </p:txBody>
      </p:sp>
      <p:sp>
        <p:nvSpPr>
          <p:cNvPr id="11" name="Text 9"/>
          <p:cNvSpPr/>
          <p:nvPr/>
        </p:nvSpPr>
        <p:spPr>
          <a:xfrm>
            <a:off x="2633472" y="2194560"/>
            <a:ext cx="201168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Consistent output format</a:t>
            </a:r>
            <a:endParaRPr lang="en-US" sz="1000" dirty="0"/>
          </a:p>
        </p:txBody>
      </p:sp>
      <p:sp>
        <p:nvSpPr>
          <p:cNvPr id="12" name="Text 10"/>
          <p:cNvSpPr/>
          <p:nvPr/>
        </p:nvSpPr>
        <p:spPr>
          <a:xfrm>
            <a:off x="2633472" y="2514600"/>
            <a:ext cx="2011680" cy="256032"/>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regardless of complexity</a:t>
            </a:r>
            <a:endParaRPr lang="en-US" sz="850" dirty="0"/>
          </a:p>
        </p:txBody>
      </p:sp>
      <p:sp>
        <p:nvSpPr>
          <p:cNvPr id="13" name="Shape 11"/>
          <p:cNvSpPr/>
          <p:nvPr/>
        </p:nvSpPr>
        <p:spPr>
          <a:xfrm>
            <a:off x="4809744" y="1463040"/>
            <a:ext cx="2011680" cy="1371600"/>
          </a:xfrm>
          <a:prstGeom prst="rect">
            <a:avLst/>
          </a:prstGeom>
          <a:solidFill>
            <a:srgbClr val="0D2B22"/>
          </a:solidFill>
          <a:ln w="12700">
            <a:solidFill>
              <a:srgbClr val="0F6E56"/>
            </a:solidFill>
            <a:prstDash val="solid"/>
          </a:ln>
        </p:spPr>
      </p:sp>
      <p:sp>
        <p:nvSpPr>
          <p:cNvPr id="14" name="Text 12"/>
          <p:cNvSpPr/>
          <p:nvPr/>
        </p:nvSpPr>
        <p:spPr>
          <a:xfrm>
            <a:off x="4809744" y="1554480"/>
            <a:ext cx="2011680" cy="640080"/>
          </a:xfrm>
          <a:prstGeom prst="rect">
            <a:avLst/>
          </a:prstGeom>
          <a:noFill/>
          <a:ln/>
        </p:spPr>
        <p:txBody>
          <a:bodyPr wrap="square" lIns="0" tIns="0" rIns="0" bIns="0" rtlCol="0" anchor="ctr"/>
          <a:lstStyle/>
          <a:p>
            <a:pPr algn="ctr" indent="0" marL="0">
              <a:buNone/>
            </a:pPr>
            <a:r>
              <a:rPr lang="en-US" sz="4000" b="1" dirty="0">
                <a:solidFill>
                  <a:srgbClr val="C9A84C"/>
                </a:solidFill>
                <a:latin typeface="Calibri" pitchFamily="34" charset="0"/>
                <a:ea typeface="Calibri" pitchFamily="34" charset="-122"/>
                <a:cs typeface="Calibri" pitchFamily="34" charset="-120"/>
              </a:rPr>
              <a:t>4</a:t>
            </a:r>
            <a:endParaRPr lang="en-US" sz="4000" dirty="0"/>
          </a:p>
        </p:txBody>
      </p:sp>
      <p:sp>
        <p:nvSpPr>
          <p:cNvPr id="15" name="Text 13"/>
          <p:cNvSpPr/>
          <p:nvPr/>
        </p:nvSpPr>
        <p:spPr>
          <a:xfrm>
            <a:off x="4809744" y="2194560"/>
            <a:ext cx="201168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Export tabs</a:t>
            </a:r>
            <a:endParaRPr lang="en-US" sz="1000" dirty="0"/>
          </a:p>
        </p:txBody>
      </p:sp>
      <p:sp>
        <p:nvSpPr>
          <p:cNvPr id="16" name="Text 14"/>
          <p:cNvSpPr/>
          <p:nvPr/>
        </p:nvSpPr>
        <p:spPr>
          <a:xfrm>
            <a:off x="4809744" y="2514600"/>
            <a:ext cx="2011680" cy="256032"/>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ready to share with stakeholders</a:t>
            </a:r>
            <a:endParaRPr lang="en-US" sz="850" dirty="0"/>
          </a:p>
        </p:txBody>
      </p:sp>
      <p:sp>
        <p:nvSpPr>
          <p:cNvPr id="17" name="Shape 15"/>
          <p:cNvSpPr/>
          <p:nvPr/>
        </p:nvSpPr>
        <p:spPr>
          <a:xfrm>
            <a:off x="6986016" y="1463040"/>
            <a:ext cx="2011680" cy="1371600"/>
          </a:xfrm>
          <a:prstGeom prst="rect">
            <a:avLst/>
          </a:prstGeom>
          <a:solidFill>
            <a:srgbClr val="0D2B22"/>
          </a:solidFill>
          <a:ln w="12700">
            <a:solidFill>
              <a:srgbClr val="0F6E56"/>
            </a:solidFill>
            <a:prstDash val="solid"/>
          </a:ln>
        </p:spPr>
      </p:sp>
      <p:sp>
        <p:nvSpPr>
          <p:cNvPr id="18" name="Text 16"/>
          <p:cNvSpPr/>
          <p:nvPr/>
        </p:nvSpPr>
        <p:spPr>
          <a:xfrm>
            <a:off x="6986016" y="1554480"/>
            <a:ext cx="2011680" cy="640080"/>
          </a:xfrm>
          <a:prstGeom prst="rect">
            <a:avLst/>
          </a:prstGeom>
          <a:noFill/>
          <a:ln/>
        </p:spPr>
        <p:txBody>
          <a:bodyPr wrap="square" lIns="0" tIns="0" rIns="0" bIns="0" rtlCol="0" anchor="ctr"/>
          <a:lstStyle/>
          <a:p>
            <a:pPr algn="ctr" indent="0" marL="0">
              <a:buNone/>
            </a:pPr>
            <a:r>
              <a:rPr lang="en-US" sz="4000" b="1" dirty="0">
                <a:solidFill>
                  <a:srgbClr val="C9A84C"/>
                </a:solidFill>
                <a:latin typeface="Calibri" pitchFamily="34" charset="0"/>
                <a:ea typeface="Calibri" pitchFamily="34" charset="-122"/>
                <a:cs typeface="Calibri" pitchFamily="34" charset="-120"/>
              </a:rPr>
              <a:t>3</a:t>
            </a:r>
            <a:endParaRPr lang="en-US" sz="4000" dirty="0"/>
          </a:p>
        </p:txBody>
      </p:sp>
      <p:sp>
        <p:nvSpPr>
          <p:cNvPr id="19" name="Text 17"/>
          <p:cNvSpPr/>
          <p:nvPr/>
        </p:nvSpPr>
        <p:spPr>
          <a:xfrm>
            <a:off x="6986016" y="2194560"/>
            <a:ext cx="201168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Demo scenarios included</a:t>
            </a:r>
            <a:endParaRPr lang="en-US" sz="1000" dirty="0"/>
          </a:p>
        </p:txBody>
      </p:sp>
      <p:sp>
        <p:nvSpPr>
          <p:cNvPr id="20" name="Text 18"/>
          <p:cNvSpPr/>
          <p:nvPr/>
        </p:nvSpPr>
        <p:spPr>
          <a:xfrm>
            <a:off x="6986016" y="2514600"/>
            <a:ext cx="2011680" cy="256032"/>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VCF · Telco · Multi-cloud</a:t>
            </a:r>
            <a:endParaRPr lang="en-US" sz="850" dirty="0"/>
          </a:p>
        </p:txBody>
      </p:sp>
      <p:sp>
        <p:nvSpPr>
          <p:cNvPr id="21" name="Shape 19"/>
          <p:cNvSpPr/>
          <p:nvPr/>
        </p:nvSpPr>
        <p:spPr>
          <a:xfrm>
            <a:off x="457200" y="3063240"/>
            <a:ext cx="2743200" cy="1783080"/>
          </a:xfrm>
          <a:prstGeom prst="rect">
            <a:avLst/>
          </a:prstGeom>
          <a:solidFill>
            <a:srgbClr val="0D2B22"/>
          </a:solidFill>
          <a:ln w="12700">
            <a:solidFill>
              <a:srgbClr val="1E4A38"/>
            </a:solidFill>
            <a:prstDash val="solid"/>
          </a:ln>
        </p:spPr>
      </p:sp>
      <p:pic>
        <p:nvPicPr>
          <p:cNvPr id="22" name="Image 0" descr="preencoded.png">    </p:cNvPr>
          <p:cNvPicPr>
            <a:picLocks noChangeAspect="1"/>
          </p:cNvPicPr>
          <p:nvPr/>
        </p:nvPicPr>
        <p:blipFill>
          <a:blip r:embed="rId1"/>
          <a:stretch>
            <a:fillRect/>
          </a:stretch>
        </p:blipFill>
        <p:spPr>
          <a:xfrm>
            <a:off x="640080" y="3200400"/>
            <a:ext cx="365760" cy="365760"/>
          </a:xfrm>
          <a:prstGeom prst="rect">
            <a:avLst/>
          </a:prstGeom>
        </p:spPr>
      </p:pic>
      <p:sp>
        <p:nvSpPr>
          <p:cNvPr id="23" name="Text 20"/>
          <p:cNvSpPr/>
          <p:nvPr/>
        </p:nvSpPr>
        <p:spPr>
          <a:xfrm>
            <a:off x="1097280" y="3200400"/>
            <a:ext cx="192024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Enterprise-grade output</a:t>
            </a:r>
            <a:endParaRPr lang="en-US" sz="1200" dirty="0"/>
          </a:p>
        </p:txBody>
      </p:sp>
      <p:sp>
        <p:nvSpPr>
          <p:cNvPr id="24" name="Text 21"/>
          <p:cNvSpPr/>
          <p:nvPr/>
        </p:nvSpPr>
        <p:spPr>
          <a:xfrm>
            <a:off x="640080" y="3657600"/>
            <a:ext cx="2423160" cy="109728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Structured JSON output rendered as color-coded tables mirrors the deliverables I produced for Fortune 500 engagements at VMware and Broadcom.</a:t>
            </a:r>
            <a:endParaRPr lang="en-US" sz="950" dirty="0"/>
          </a:p>
        </p:txBody>
      </p:sp>
      <p:sp>
        <p:nvSpPr>
          <p:cNvPr id="25" name="Shape 22"/>
          <p:cNvSpPr/>
          <p:nvPr/>
        </p:nvSpPr>
        <p:spPr>
          <a:xfrm>
            <a:off x="3337560" y="3063240"/>
            <a:ext cx="2743200" cy="1783080"/>
          </a:xfrm>
          <a:prstGeom prst="rect">
            <a:avLst/>
          </a:prstGeom>
          <a:solidFill>
            <a:srgbClr val="0D2B22"/>
          </a:solidFill>
          <a:ln w="12700">
            <a:solidFill>
              <a:srgbClr val="1E4A38"/>
            </a:solidFill>
            <a:prstDash val="solid"/>
          </a:ln>
        </p:spPr>
      </p:sp>
      <p:pic>
        <p:nvPicPr>
          <p:cNvPr id="26" name="Image 1" descr="preencoded.png">    </p:cNvPr>
          <p:cNvPicPr>
            <a:picLocks noChangeAspect="1"/>
          </p:cNvPicPr>
          <p:nvPr/>
        </p:nvPicPr>
        <p:blipFill>
          <a:blip r:embed="rId2"/>
          <a:stretch>
            <a:fillRect/>
          </a:stretch>
        </p:blipFill>
        <p:spPr>
          <a:xfrm>
            <a:off x="3520440" y="3200400"/>
            <a:ext cx="365760" cy="365760"/>
          </a:xfrm>
          <a:prstGeom prst="rect">
            <a:avLst/>
          </a:prstGeom>
        </p:spPr>
      </p:pic>
      <p:sp>
        <p:nvSpPr>
          <p:cNvPr id="27" name="Text 23"/>
          <p:cNvSpPr/>
          <p:nvPr/>
        </p:nvSpPr>
        <p:spPr>
          <a:xfrm>
            <a:off x="3977640" y="3200400"/>
            <a:ext cx="192024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Pre-sales ready</a:t>
            </a:r>
            <a:endParaRPr lang="en-US" sz="1200" dirty="0"/>
          </a:p>
        </p:txBody>
      </p:sp>
      <p:sp>
        <p:nvSpPr>
          <p:cNvPr id="28" name="Text 24"/>
          <p:cNvSpPr/>
          <p:nvPr/>
        </p:nvSpPr>
        <p:spPr>
          <a:xfrm>
            <a:off x="3520440" y="3657600"/>
            <a:ext cx="2423160" cy="109728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Architects and pre-sales engineers can run a live demo in any customer meeting. The Excel export creates an immediate deliverable to leave behind.</a:t>
            </a:r>
            <a:endParaRPr lang="en-US" sz="950" dirty="0"/>
          </a:p>
        </p:txBody>
      </p:sp>
      <p:sp>
        <p:nvSpPr>
          <p:cNvPr id="29" name="Shape 25"/>
          <p:cNvSpPr/>
          <p:nvPr/>
        </p:nvSpPr>
        <p:spPr>
          <a:xfrm>
            <a:off x="6217920" y="3063240"/>
            <a:ext cx="2743200" cy="1783080"/>
          </a:xfrm>
          <a:prstGeom prst="rect">
            <a:avLst/>
          </a:prstGeom>
          <a:solidFill>
            <a:srgbClr val="0D2B22"/>
          </a:solidFill>
          <a:ln w="12700">
            <a:solidFill>
              <a:srgbClr val="1E4A38"/>
            </a:solidFill>
            <a:prstDash val="solid"/>
          </a:ln>
        </p:spPr>
      </p:sp>
      <p:pic>
        <p:nvPicPr>
          <p:cNvPr id="30" name="Image 2" descr="preencoded.png">    </p:cNvPr>
          <p:cNvPicPr>
            <a:picLocks noChangeAspect="1"/>
          </p:cNvPicPr>
          <p:nvPr/>
        </p:nvPicPr>
        <p:blipFill>
          <a:blip r:embed="rId3"/>
          <a:stretch>
            <a:fillRect/>
          </a:stretch>
        </p:blipFill>
        <p:spPr>
          <a:xfrm>
            <a:off x="6400800" y="3200400"/>
            <a:ext cx="365760" cy="365760"/>
          </a:xfrm>
          <a:prstGeom prst="rect">
            <a:avLst/>
          </a:prstGeom>
        </p:spPr>
      </p:pic>
      <p:sp>
        <p:nvSpPr>
          <p:cNvPr id="31" name="Text 26"/>
          <p:cNvSpPr/>
          <p:nvPr/>
        </p:nvSpPr>
        <p:spPr>
          <a:xfrm>
            <a:off x="6858000" y="3200400"/>
            <a:ext cx="192024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Domain-expert prompt engineering</a:t>
            </a:r>
            <a:endParaRPr lang="en-US" sz="1200" dirty="0"/>
          </a:p>
        </p:txBody>
      </p:sp>
      <p:sp>
        <p:nvSpPr>
          <p:cNvPr id="32" name="Text 27"/>
          <p:cNvSpPr/>
          <p:nvPr/>
        </p:nvSpPr>
        <p:spPr>
          <a:xfrm>
            <a:off x="6400800" y="3657600"/>
            <a:ext cx="2423160" cy="109728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The agent is prompted as a Principal Security Architect with 20+ years of VMware NSX, vDefend, and SASE expertise — not a generic AI assistant.</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1554480" cy="292608"/>
          </a:xfrm>
          <a:prstGeom prst="rect">
            <a:avLst/>
          </a:prstGeom>
          <a:solidFill>
            <a:srgbClr val="E1F5EE"/>
          </a:solidFill>
          <a:ln w="12700">
            <a:solidFill>
              <a:srgbClr val="E1F5EE"/>
            </a:solidFill>
            <a:prstDash val="solid"/>
          </a:ln>
        </p:spPr>
      </p:sp>
      <p:sp>
        <p:nvSpPr>
          <p:cNvPr id="3" name="Text 1"/>
          <p:cNvSpPr/>
          <p:nvPr/>
        </p:nvSpPr>
        <p:spPr>
          <a:xfrm>
            <a:off x="457200" y="274320"/>
            <a:ext cx="1554480" cy="292608"/>
          </a:xfrm>
          <a:prstGeom prst="rect">
            <a:avLst/>
          </a:prstGeom>
          <a:noFill/>
          <a:ln/>
        </p:spPr>
        <p:txBody>
          <a:bodyPr wrap="square" lIns="0" tIns="0" rIns="0" bIns="0" rtlCol="0" anchor="ctr"/>
          <a:lstStyle/>
          <a:p>
            <a:pPr algn="ctr" indent="0" marL="0">
              <a:buNone/>
            </a:pPr>
            <a:r>
              <a:rPr lang="en-US" sz="800" b="1" spc="150" kern="0" dirty="0">
                <a:solidFill>
                  <a:srgbClr val="0F6E56"/>
                </a:solidFill>
              </a:rPr>
              <a:t>DEMO SCENARIOS</a:t>
            </a:r>
            <a:endParaRPr lang="en-US" sz="800" dirty="0"/>
          </a:p>
        </p:txBody>
      </p:sp>
      <p:sp>
        <p:nvSpPr>
          <p:cNvPr id="4" name="Text 2"/>
          <p:cNvSpPr/>
          <p:nvPr/>
        </p:nvSpPr>
        <p:spPr>
          <a:xfrm>
            <a:off x="457200" y="685800"/>
            <a:ext cx="8229600" cy="594360"/>
          </a:xfrm>
          <a:prstGeom prst="rect">
            <a:avLst/>
          </a:prstGeom>
          <a:noFill/>
          <a:ln/>
        </p:spPr>
        <p:txBody>
          <a:bodyPr wrap="square" lIns="0" tIns="0" rIns="0" bIns="0" rtlCol="0" anchor="ctr"/>
          <a:lstStyle/>
          <a:p>
            <a:pPr algn="l" indent="0" marL="0">
              <a:buNone/>
            </a:pPr>
            <a:r>
              <a:rPr lang="en-US" sz="2800" b="1" dirty="0">
                <a:solidFill>
                  <a:srgbClr val="0F172A"/>
                </a:solidFill>
                <a:latin typeface="Calibri" pitchFamily="34" charset="0"/>
                <a:ea typeface="Calibri" pitchFamily="34" charset="-122"/>
                <a:cs typeface="Calibri" pitchFamily="34" charset="-120"/>
              </a:rPr>
              <a:t>Three pre-built scenarios — ready to demo live</a:t>
            </a:r>
            <a:endParaRPr lang="en-US" sz="2800" dirty="0"/>
          </a:p>
        </p:txBody>
      </p:sp>
      <p:sp>
        <p:nvSpPr>
          <p:cNvPr id="5" name="Shape 3"/>
          <p:cNvSpPr/>
          <p:nvPr/>
        </p:nvSpPr>
        <p:spPr>
          <a:xfrm>
            <a:off x="320040" y="1463040"/>
            <a:ext cx="2788920" cy="3383280"/>
          </a:xfrm>
          <a:prstGeom prst="rect">
            <a:avLst/>
          </a:prstGeom>
          <a:solidFill>
            <a:srgbClr val="F8FAFC"/>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320040" y="1463040"/>
            <a:ext cx="2788920" cy="54864"/>
          </a:xfrm>
          <a:prstGeom prst="rect">
            <a:avLst/>
          </a:prstGeom>
          <a:solidFill>
            <a:srgbClr val="0F6E56"/>
          </a:solidFill>
          <a:ln w="12700">
            <a:solidFill>
              <a:srgbClr val="0F6E56"/>
            </a:solidFill>
            <a:prstDash val="solid"/>
          </a:ln>
        </p:spPr>
      </p:sp>
      <p:sp>
        <p:nvSpPr>
          <p:cNvPr id="7" name="Text 5"/>
          <p:cNvSpPr/>
          <p:nvPr/>
        </p:nvSpPr>
        <p:spPr>
          <a:xfrm>
            <a:off x="457200" y="1572768"/>
            <a:ext cx="548640" cy="548640"/>
          </a:xfrm>
          <a:prstGeom prst="rect">
            <a:avLst/>
          </a:prstGeom>
          <a:noFill/>
          <a:ln/>
        </p:spPr>
        <p:txBody>
          <a:bodyPr wrap="square" lIns="0" tIns="0" rIns="0" bIns="0" rtlCol="0" anchor="ctr"/>
          <a:lstStyle/>
          <a:p>
            <a:pPr indent="0" marL="0">
              <a:buNone/>
            </a:pPr>
            <a:r>
              <a:rPr lang="en-US" sz="2800" b="1" dirty="0">
                <a:solidFill>
                  <a:srgbClr val="0F6E56"/>
                </a:solidFill>
                <a:latin typeface="Calibri" pitchFamily="34" charset="0"/>
                <a:ea typeface="Calibri" pitchFamily="34" charset="-122"/>
                <a:cs typeface="Calibri" pitchFamily="34" charset="-120"/>
              </a:rPr>
              <a:t>01</a:t>
            </a:r>
            <a:endParaRPr lang="en-US" sz="2800" dirty="0"/>
          </a:p>
        </p:txBody>
      </p:sp>
      <p:pic>
        <p:nvPicPr>
          <p:cNvPr id="8" name="Image 0" descr="preencoded.png">    </p:cNvPr>
          <p:cNvPicPr>
            <a:picLocks noChangeAspect="1"/>
          </p:cNvPicPr>
          <p:nvPr/>
        </p:nvPicPr>
        <p:blipFill>
          <a:blip r:embed="rId1"/>
          <a:stretch>
            <a:fillRect/>
          </a:stretch>
        </p:blipFill>
        <p:spPr>
          <a:xfrm>
            <a:off x="2560320" y="1627632"/>
            <a:ext cx="365760" cy="365760"/>
          </a:xfrm>
          <a:prstGeom prst="rect">
            <a:avLst/>
          </a:prstGeom>
        </p:spPr>
      </p:pic>
      <p:sp>
        <p:nvSpPr>
          <p:cNvPr id="9" name="Text 6"/>
          <p:cNvSpPr/>
          <p:nvPr/>
        </p:nvSpPr>
        <p:spPr>
          <a:xfrm>
            <a:off x="457200" y="2148840"/>
            <a:ext cx="2514600" cy="45720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VCF Private Cloud</a:t>
            </a:r>
            <a:endParaRPr lang="en-US" sz="1500" dirty="0"/>
          </a:p>
        </p:txBody>
      </p:sp>
      <p:sp>
        <p:nvSpPr>
          <p:cNvPr id="10" name="Shape 7"/>
          <p:cNvSpPr/>
          <p:nvPr/>
        </p:nvSpPr>
        <p:spPr>
          <a:xfrm>
            <a:off x="457200" y="2651760"/>
            <a:ext cx="2514600" cy="274320"/>
          </a:xfrm>
          <a:prstGeom prst="rect">
            <a:avLst/>
          </a:prstGeom>
          <a:solidFill>
            <a:srgbClr val="E1F5EE"/>
          </a:solidFill>
          <a:ln w="12700">
            <a:solidFill>
              <a:srgbClr val="E1F5EE"/>
            </a:solidFill>
            <a:prstDash val="solid"/>
          </a:ln>
        </p:spPr>
      </p:sp>
      <p:sp>
        <p:nvSpPr>
          <p:cNvPr id="11" name="Text 8"/>
          <p:cNvSpPr/>
          <p:nvPr/>
        </p:nvSpPr>
        <p:spPr>
          <a:xfrm>
            <a:off x="457200" y="2651760"/>
            <a:ext cx="2514600" cy="274320"/>
          </a:xfrm>
          <a:prstGeom prst="rect">
            <a:avLst/>
          </a:prstGeom>
          <a:noFill/>
          <a:ln/>
        </p:spPr>
        <p:txBody>
          <a:bodyPr wrap="square" lIns="0" tIns="0" rIns="0" bIns="0" rtlCol="0" anchor="ctr"/>
          <a:lstStyle/>
          <a:p>
            <a:pPr algn="ctr" indent="0" marL="0">
              <a:buNone/>
            </a:pPr>
            <a:r>
              <a:rPr lang="en-US" sz="750" b="1" dirty="0">
                <a:solidFill>
                  <a:srgbClr val="0F6E56"/>
                </a:solidFill>
              </a:rPr>
              <a:t>Best for: Cisco · Nutanix · VMware-adjacent companies</a:t>
            </a:r>
            <a:endParaRPr lang="en-US" sz="750" dirty="0"/>
          </a:p>
        </p:txBody>
      </p:sp>
      <p:sp>
        <p:nvSpPr>
          <p:cNvPr id="12" name="Text 9"/>
          <p:cNvSpPr/>
          <p:nvPr/>
        </p:nvSpPr>
        <p:spPr>
          <a:xfrm>
            <a:off x="457200" y="3017520"/>
            <a:ext cx="777240" cy="384048"/>
          </a:xfrm>
          <a:prstGeom prst="rect">
            <a:avLst/>
          </a:prstGeom>
          <a:noFill/>
          <a:ln/>
        </p:spPr>
        <p:txBody>
          <a:bodyPr wrap="square" lIns="0" tIns="0" rIns="0" bIns="0" rtlCol="0" anchor="t"/>
          <a:lstStyle/>
          <a:p>
            <a:pPr indent="0" marL="0">
              <a:buNone/>
            </a:pPr>
            <a:r>
              <a:rPr lang="en-US" sz="800" b="1" dirty="0">
                <a:solidFill>
                  <a:srgbClr val="0F6E56"/>
                </a:solidFill>
                <a:latin typeface="Calibri" pitchFamily="34" charset="0"/>
                <a:ea typeface="Calibri" pitchFamily="34" charset="-122"/>
                <a:cs typeface="Calibri" pitchFamily="34" charset="-120"/>
              </a:rPr>
              <a:t>Environment:</a:t>
            </a:r>
            <a:endParaRPr lang="en-US" sz="800" dirty="0"/>
          </a:p>
        </p:txBody>
      </p:sp>
      <p:sp>
        <p:nvSpPr>
          <p:cNvPr id="13" name="Text 10"/>
          <p:cNvSpPr/>
          <p:nvPr/>
        </p:nvSpPr>
        <p:spPr>
          <a:xfrm>
            <a:off x="1234440" y="3017520"/>
            <a:ext cx="1737360" cy="384048"/>
          </a:xfrm>
          <a:prstGeom prst="rect">
            <a:avLst/>
          </a:prstGeom>
          <a:noFill/>
          <a:ln/>
        </p:spPr>
        <p:txBody>
          <a:bodyPr wrap="square" lIns="0" tIns="0" rIns="0" bIns="0" rtlCol="0" anchor="t"/>
          <a:lstStyle/>
          <a:p>
            <a:pPr indent="0" marL="0">
              <a:buNone/>
            </a:pPr>
            <a:r>
              <a:rPr lang="en-US" sz="800" dirty="0">
                <a:solidFill>
                  <a:srgbClr val="334155"/>
                </a:solidFill>
                <a:latin typeface="Calibri" pitchFamily="34" charset="0"/>
                <a:ea typeface="Calibri" pitchFamily="34" charset="-122"/>
                <a:cs typeface="Calibri" pitchFamily="34" charset="-120"/>
              </a:rPr>
              <a:t>Enterprise private cloud (VCF)</a:t>
            </a:r>
            <a:endParaRPr lang="en-US" sz="800" dirty="0"/>
          </a:p>
        </p:txBody>
      </p:sp>
      <p:sp>
        <p:nvSpPr>
          <p:cNvPr id="14" name="Text 11"/>
          <p:cNvSpPr/>
          <p:nvPr/>
        </p:nvSpPr>
        <p:spPr>
          <a:xfrm>
            <a:off x="457200" y="3438144"/>
            <a:ext cx="777240" cy="384048"/>
          </a:xfrm>
          <a:prstGeom prst="rect">
            <a:avLst/>
          </a:prstGeom>
          <a:noFill/>
          <a:ln/>
        </p:spPr>
        <p:txBody>
          <a:bodyPr wrap="square" lIns="0" tIns="0" rIns="0" bIns="0" rtlCol="0" anchor="t"/>
          <a:lstStyle/>
          <a:p>
            <a:pPr indent="0" marL="0">
              <a:buNone/>
            </a:pPr>
            <a:r>
              <a:rPr lang="en-US" sz="800" b="1" dirty="0">
                <a:solidFill>
                  <a:srgbClr val="0F6E56"/>
                </a:solidFill>
                <a:latin typeface="Calibri" pitchFamily="34" charset="0"/>
                <a:ea typeface="Calibri" pitchFamily="34" charset="-122"/>
                <a:cs typeface="Calibri" pitchFamily="34" charset="-120"/>
              </a:rPr>
              <a:t>Tools:</a:t>
            </a:r>
            <a:endParaRPr lang="en-US" sz="800" dirty="0"/>
          </a:p>
        </p:txBody>
      </p:sp>
      <p:sp>
        <p:nvSpPr>
          <p:cNvPr id="15" name="Text 12"/>
          <p:cNvSpPr/>
          <p:nvPr/>
        </p:nvSpPr>
        <p:spPr>
          <a:xfrm>
            <a:off x="1234440" y="3438144"/>
            <a:ext cx="1737360" cy="384048"/>
          </a:xfrm>
          <a:prstGeom prst="rect">
            <a:avLst/>
          </a:prstGeom>
          <a:noFill/>
          <a:ln/>
        </p:spPr>
        <p:txBody>
          <a:bodyPr wrap="square" lIns="0" tIns="0" rIns="0" bIns="0" rtlCol="0" anchor="t"/>
          <a:lstStyle/>
          <a:p>
            <a:pPr indent="0" marL="0">
              <a:buNone/>
            </a:pPr>
            <a:r>
              <a:rPr lang="en-US" sz="800" dirty="0">
                <a:solidFill>
                  <a:srgbClr val="334155"/>
                </a:solidFill>
                <a:latin typeface="Calibri" pitchFamily="34" charset="0"/>
                <a:ea typeface="Calibri" pitchFamily="34" charset="-122"/>
                <a:cs typeface="Calibri" pitchFamily="34" charset="-120"/>
              </a:rPr>
              <a:t>VMware NSX · Traditional Firewall · SIEM</a:t>
            </a:r>
            <a:endParaRPr lang="en-US" sz="800" dirty="0"/>
          </a:p>
        </p:txBody>
      </p:sp>
      <p:sp>
        <p:nvSpPr>
          <p:cNvPr id="16" name="Text 13"/>
          <p:cNvSpPr/>
          <p:nvPr/>
        </p:nvSpPr>
        <p:spPr>
          <a:xfrm>
            <a:off x="457200" y="3858768"/>
            <a:ext cx="777240" cy="384048"/>
          </a:xfrm>
          <a:prstGeom prst="rect">
            <a:avLst/>
          </a:prstGeom>
          <a:noFill/>
          <a:ln/>
        </p:spPr>
        <p:txBody>
          <a:bodyPr wrap="square" lIns="0" tIns="0" rIns="0" bIns="0" rtlCol="0" anchor="t"/>
          <a:lstStyle/>
          <a:p>
            <a:pPr indent="0" marL="0">
              <a:buNone/>
            </a:pPr>
            <a:r>
              <a:rPr lang="en-US" sz="800" b="1" dirty="0">
                <a:solidFill>
                  <a:srgbClr val="0F6E56"/>
                </a:solidFill>
                <a:latin typeface="Calibri" pitchFamily="34" charset="0"/>
                <a:ea typeface="Calibri" pitchFamily="34" charset="-122"/>
                <a:cs typeface="Calibri" pitchFamily="34" charset="-120"/>
              </a:rPr>
              <a:t>Compliance:</a:t>
            </a:r>
            <a:endParaRPr lang="en-US" sz="800" dirty="0"/>
          </a:p>
        </p:txBody>
      </p:sp>
      <p:sp>
        <p:nvSpPr>
          <p:cNvPr id="17" name="Text 14"/>
          <p:cNvSpPr/>
          <p:nvPr/>
        </p:nvSpPr>
        <p:spPr>
          <a:xfrm>
            <a:off x="1234440" y="3858768"/>
            <a:ext cx="1737360" cy="384048"/>
          </a:xfrm>
          <a:prstGeom prst="rect">
            <a:avLst/>
          </a:prstGeom>
          <a:noFill/>
          <a:ln/>
        </p:spPr>
        <p:txBody>
          <a:bodyPr wrap="square" lIns="0" tIns="0" rIns="0" bIns="0" rtlCol="0" anchor="t"/>
          <a:lstStyle/>
          <a:p>
            <a:pPr indent="0" marL="0">
              <a:buNone/>
            </a:pPr>
            <a:r>
              <a:rPr lang="en-US" sz="800" dirty="0">
                <a:solidFill>
                  <a:srgbClr val="334155"/>
                </a:solidFill>
                <a:latin typeface="Calibri" pitchFamily="34" charset="0"/>
                <a:ea typeface="Calibri" pitchFamily="34" charset="-122"/>
                <a:cs typeface="Calibri" pitchFamily="34" charset="-120"/>
              </a:rPr>
              <a:t>NIST CSF · SOC 2</a:t>
            </a:r>
            <a:endParaRPr lang="en-US" sz="800" dirty="0"/>
          </a:p>
        </p:txBody>
      </p:sp>
      <p:sp>
        <p:nvSpPr>
          <p:cNvPr id="18" name="Text 15"/>
          <p:cNvSpPr/>
          <p:nvPr/>
        </p:nvSpPr>
        <p:spPr>
          <a:xfrm>
            <a:off x="457200" y="4279392"/>
            <a:ext cx="777240" cy="384048"/>
          </a:xfrm>
          <a:prstGeom prst="rect">
            <a:avLst/>
          </a:prstGeom>
          <a:noFill/>
          <a:ln/>
        </p:spPr>
        <p:txBody>
          <a:bodyPr wrap="square" lIns="0" tIns="0" rIns="0" bIns="0" rtlCol="0" anchor="t"/>
          <a:lstStyle/>
          <a:p>
            <a:pPr indent="0" marL="0">
              <a:buNone/>
            </a:pPr>
            <a:r>
              <a:rPr lang="en-US" sz="800" b="1" dirty="0">
                <a:solidFill>
                  <a:srgbClr val="0F6E56"/>
                </a:solidFill>
                <a:latin typeface="Calibri" pitchFamily="34" charset="0"/>
                <a:ea typeface="Calibri" pitchFamily="34" charset="-122"/>
                <a:cs typeface="Calibri" pitchFamily="34" charset="-120"/>
              </a:rPr>
              <a:t>Key gaps:</a:t>
            </a:r>
            <a:endParaRPr lang="en-US" sz="800" dirty="0"/>
          </a:p>
        </p:txBody>
      </p:sp>
      <p:sp>
        <p:nvSpPr>
          <p:cNvPr id="19" name="Text 16"/>
          <p:cNvSpPr/>
          <p:nvPr/>
        </p:nvSpPr>
        <p:spPr>
          <a:xfrm>
            <a:off x="1234440" y="4279392"/>
            <a:ext cx="1737360" cy="384048"/>
          </a:xfrm>
          <a:prstGeom prst="rect">
            <a:avLst/>
          </a:prstGeom>
          <a:noFill/>
          <a:ln/>
        </p:spPr>
        <p:txBody>
          <a:bodyPr wrap="square" lIns="0" tIns="0" rIns="0" bIns="0" rtlCol="0" anchor="t"/>
          <a:lstStyle/>
          <a:p>
            <a:pPr indent="0" marL="0">
              <a:buNone/>
            </a:pPr>
            <a:r>
              <a:rPr lang="en-US" sz="800" dirty="0">
                <a:solidFill>
                  <a:srgbClr val="334155"/>
                </a:solidFill>
                <a:latin typeface="Calibri" pitchFamily="34" charset="0"/>
                <a:ea typeface="Calibri" pitchFamily="34" charset="-122"/>
                <a:cs typeface="Calibri" pitchFamily="34" charset="-120"/>
              </a:rPr>
              <a:t>400+ workloads · No microsegmentation · Legacy VPN · No MFA</a:t>
            </a:r>
            <a:endParaRPr lang="en-US" sz="800" dirty="0"/>
          </a:p>
        </p:txBody>
      </p:sp>
      <p:sp>
        <p:nvSpPr>
          <p:cNvPr id="20" name="Shape 17"/>
          <p:cNvSpPr/>
          <p:nvPr/>
        </p:nvSpPr>
        <p:spPr>
          <a:xfrm>
            <a:off x="3246120" y="1463040"/>
            <a:ext cx="2788920" cy="3383280"/>
          </a:xfrm>
          <a:prstGeom prst="rect">
            <a:avLst/>
          </a:prstGeom>
          <a:solidFill>
            <a:srgbClr val="F8FAFC"/>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1" name="Shape 18"/>
          <p:cNvSpPr/>
          <p:nvPr/>
        </p:nvSpPr>
        <p:spPr>
          <a:xfrm>
            <a:off x="3246120" y="1463040"/>
            <a:ext cx="2788920" cy="54864"/>
          </a:xfrm>
          <a:prstGeom prst="rect">
            <a:avLst/>
          </a:prstGeom>
          <a:solidFill>
            <a:srgbClr val="C9A84C"/>
          </a:solidFill>
          <a:ln w="12700">
            <a:solidFill>
              <a:srgbClr val="C9A84C"/>
            </a:solidFill>
            <a:prstDash val="solid"/>
          </a:ln>
        </p:spPr>
      </p:sp>
      <p:sp>
        <p:nvSpPr>
          <p:cNvPr id="22" name="Text 19"/>
          <p:cNvSpPr/>
          <p:nvPr/>
        </p:nvSpPr>
        <p:spPr>
          <a:xfrm>
            <a:off x="3383280" y="1572768"/>
            <a:ext cx="548640" cy="548640"/>
          </a:xfrm>
          <a:prstGeom prst="rect">
            <a:avLst/>
          </a:prstGeom>
          <a:noFill/>
          <a:ln/>
        </p:spPr>
        <p:txBody>
          <a:bodyPr wrap="square" lIns="0" tIns="0" rIns="0" bIns="0" rtlCol="0" anchor="ctr"/>
          <a:lstStyle/>
          <a:p>
            <a:pPr indent="0" marL="0">
              <a:buNone/>
            </a:pPr>
            <a:r>
              <a:rPr lang="en-US" sz="2800" b="1" dirty="0">
                <a:solidFill>
                  <a:srgbClr val="C9A84C"/>
                </a:solidFill>
                <a:latin typeface="Calibri" pitchFamily="34" charset="0"/>
                <a:ea typeface="Calibri" pitchFamily="34" charset="-122"/>
                <a:cs typeface="Calibri" pitchFamily="34" charset="-120"/>
              </a:rPr>
              <a:t>02</a:t>
            </a:r>
            <a:endParaRPr lang="en-US" sz="2800" dirty="0"/>
          </a:p>
        </p:txBody>
      </p:sp>
      <p:pic>
        <p:nvPicPr>
          <p:cNvPr id="23" name="Image 1" descr="preencoded.png">    </p:cNvPr>
          <p:cNvPicPr>
            <a:picLocks noChangeAspect="1"/>
          </p:cNvPicPr>
          <p:nvPr/>
        </p:nvPicPr>
        <p:blipFill>
          <a:blip r:embed="rId2"/>
          <a:stretch>
            <a:fillRect/>
          </a:stretch>
        </p:blipFill>
        <p:spPr>
          <a:xfrm>
            <a:off x="5486400" y="1627632"/>
            <a:ext cx="365760" cy="365760"/>
          </a:xfrm>
          <a:prstGeom prst="rect">
            <a:avLst/>
          </a:prstGeom>
        </p:spPr>
      </p:pic>
      <p:sp>
        <p:nvSpPr>
          <p:cNvPr id="24" name="Text 20"/>
          <p:cNvSpPr/>
          <p:nvPr/>
        </p:nvSpPr>
        <p:spPr>
          <a:xfrm>
            <a:off x="3383280" y="2148840"/>
            <a:ext cx="2514600" cy="45720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Telco / CSP Network</a:t>
            </a:r>
            <a:endParaRPr lang="en-US" sz="1500" dirty="0"/>
          </a:p>
        </p:txBody>
      </p:sp>
      <p:sp>
        <p:nvSpPr>
          <p:cNvPr id="25" name="Shape 21"/>
          <p:cNvSpPr/>
          <p:nvPr/>
        </p:nvSpPr>
        <p:spPr>
          <a:xfrm>
            <a:off x="3383280" y="2651760"/>
            <a:ext cx="2514600" cy="274320"/>
          </a:xfrm>
          <a:prstGeom prst="rect">
            <a:avLst/>
          </a:prstGeom>
          <a:solidFill>
            <a:srgbClr val="F5E9C8"/>
          </a:solidFill>
          <a:ln w="12700">
            <a:solidFill>
              <a:srgbClr val="F5E9C8"/>
            </a:solidFill>
            <a:prstDash val="solid"/>
          </a:ln>
        </p:spPr>
      </p:sp>
      <p:sp>
        <p:nvSpPr>
          <p:cNvPr id="26" name="Text 22"/>
          <p:cNvSpPr/>
          <p:nvPr/>
        </p:nvSpPr>
        <p:spPr>
          <a:xfrm>
            <a:off x="3383280" y="2651760"/>
            <a:ext cx="2514600" cy="274320"/>
          </a:xfrm>
          <a:prstGeom prst="rect">
            <a:avLst/>
          </a:prstGeom>
          <a:noFill/>
          <a:ln/>
        </p:spPr>
        <p:txBody>
          <a:bodyPr wrap="square" lIns="0" tIns="0" rIns="0" bIns="0" rtlCol="0" anchor="ctr"/>
          <a:lstStyle/>
          <a:p>
            <a:pPr algn="ctr" indent="0" marL="0">
              <a:buNone/>
            </a:pPr>
            <a:r>
              <a:rPr lang="en-US" sz="750" b="1" dirty="0">
                <a:solidFill>
                  <a:srgbClr val="C9A84C"/>
                </a:solidFill>
              </a:rPr>
              <a:t>Best for: Nokia · Ericsson · Mavenir · Amdocs</a:t>
            </a:r>
            <a:endParaRPr lang="en-US" sz="750" dirty="0"/>
          </a:p>
        </p:txBody>
      </p:sp>
      <p:sp>
        <p:nvSpPr>
          <p:cNvPr id="27" name="Text 23"/>
          <p:cNvSpPr/>
          <p:nvPr/>
        </p:nvSpPr>
        <p:spPr>
          <a:xfrm>
            <a:off x="3383280" y="3017520"/>
            <a:ext cx="777240" cy="384048"/>
          </a:xfrm>
          <a:prstGeom prst="rect">
            <a:avLst/>
          </a:prstGeom>
          <a:noFill/>
          <a:ln/>
        </p:spPr>
        <p:txBody>
          <a:bodyPr wrap="square" lIns="0" tIns="0" rIns="0" bIns="0" rtlCol="0" anchor="t"/>
          <a:lstStyle/>
          <a:p>
            <a:pPr indent="0" marL="0">
              <a:buNone/>
            </a:pPr>
            <a:r>
              <a:rPr lang="en-US" sz="800" b="1" dirty="0">
                <a:solidFill>
                  <a:srgbClr val="0F6E56"/>
                </a:solidFill>
                <a:latin typeface="Calibri" pitchFamily="34" charset="0"/>
                <a:ea typeface="Calibri" pitchFamily="34" charset="-122"/>
                <a:cs typeface="Calibri" pitchFamily="34" charset="-120"/>
              </a:rPr>
              <a:t>Environment:</a:t>
            </a:r>
            <a:endParaRPr lang="en-US" sz="800" dirty="0"/>
          </a:p>
        </p:txBody>
      </p:sp>
      <p:sp>
        <p:nvSpPr>
          <p:cNvPr id="28" name="Text 24"/>
          <p:cNvSpPr/>
          <p:nvPr/>
        </p:nvSpPr>
        <p:spPr>
          <a:xfrm>
            <a:off x="4160520" y="3017520"/>
            <a:ext cx="1737360" cy="384048"/>
          </a:xfrm>
          <a:prstGeom prst="rect">
            <a:avLst/>
          </a:prstGeom>
          <a:noFill/>
          <a:ln/>
        </p:spPr>
        <p:txBody>
          <a:bodyPr wrap="square" lIns="0" tIns="0" rIns="0" bIns="0" rtlCol="0" anchor="t"/>
          <a:lstStyle/>
          <a:p>
            <a:pPr indent="0" marL="0">
              <a:buNone/>
            </a:pPr>
            <a:r>
              <a:rPr lang="en-US" sz="800" dirty="0">
                <a:solidFill>
                  <a:srgbClr val="334155"/>
                </a:solidFill>
                <a:latin typeface="Calibri" pitchFamily="34" charset="0"/>
                <a:ea typeface="Calibri" pitchFamily="34" charset="-122"/>
                <a:cs typeface="Calibri" pitchFamily="34" charset="-120"/>
              </a:rPr>
              <a:t>Telco / CSP network</a:t>
            </a:r>
            <a:endParaRPr lang="en-US" sz="800" dirty="0"/>
          </a:p>
        </p:txBody>
      </p:sp>
      <p:sp>
        <p:nvSpPr>
          <p:cNvPr id="29" name="Text 25"/>
          <p:cNvSpPr/>
          <p:nvPr/>
        </p:nvSpPr>
        <p:spPr>
          <a:xfrm>
            <a:off x="3383280" y="3438144"/>
            <a:ext cx="777240" cy="384048"/>
          </a:xfrm>
          <a:prstGeom prst="rect">
            <a:avLst/>
          </a:prstGeom>
          <a:noFill/>
          <a:ln/>
        </p:spPr>
        <p:txBody>
          <a:bodyPr wrap="square" lIns="0" tIns="0" rIns="0" bIns="0" rtlCol="0" anchor="t"/>
          <a:lstStyle/>
          <a:p>
            <a:pPr indent="0" marL="0">
              <a:buNone/>
            </a:pPr>
            <a:r>
              <a:rPr lang="en-US" sz="800" b="1" dirty="0">
                <a:solidFill>
                  <a:srgbClr val="0F6E56"/>
                </a:solidFill>
                <a:latin typeface="Calibri" pitchFamily="34" charset="0"/>
                <a:ea typeface="Calibri" pitchFamily="34" charset="-122"/>
                <a:cs typeface="Calibri" pitchFamily="34" charset="-120"/>
              </a:rPr>
              <a:t>Tools:</a:t>
            </a:r>
            <a:endParaRPr lang="en-US" sz="800" dirty="0"/>
          </a:p>
        </p:txBody>
      </p:sp>
      <p:sp>
        <p:nvSpPr>
          <p:cNvPr id="30" name="Text 26"/>
          <p:cNvSpPr/>
          <p:nvPr/>
        </p:nvSpPr>
        <p:spPr>
          <a:xfrm>
            <a:off x="4160520" y="3438144"/>
            <a:ext cx="1737360" cy="384048"/>
          </a:xfrm>
          <a:prstGeom prst="rect">
            <a:avLst/>
          </a:prstGeom>
          <a:noFill/>
          <a:ln/>
        </p:spPr>
        <p:txBody>
          <a:bodyPr wrap="square" lIns="0" tIns="0" rIns="0" bIns="0" rtlCol="0" anchor="t"/>
          <a:lstStyle/>
          <a:p>
            <a:pPr indent="0" marL="0">
              <a:buNone/>
            </a:pPr>
            <a:r>
              <a:rPr lang="en-US" sz="800" dirty="0">
                <a:solidFill>
                  <a:srgbClr val="334155"/>
                </a:solidFill>
                <a:latin typeface="Calibri" pitchFamily="34" charset="0"/>
                <a:ea typeface="Calibri" pitchFamily="34" charset="-122"/>
                <a:cs typeface="Calibri" pitchFamily="34" charset="-120"/>
              </a:rPr>
              <a:t>SD-WAN · SIEM · Traditional Firewall</a:t>
            </a:r>
            <a:endParaRPr lang="en-US" sz="800" dirty="0"/>
          </a:p>
        </p:txBody>
      </p:sp>
      <p:sp>
        <p:nvSpPr>
          <p:cNvPr id="31" name="Text 27"/>
          <p:cNvSpPr/>
          <p:nvPr/>
        </p:nvSpPr>
        <p:spPr>
          <a:xfrm>
            <a:off x="3383280" y="3858768"/>
            <a:ext cx="777240" cy="384048"/>
          </a:xfrm>
          <a:prstGeom prst="rect">
            <a:avLst/>
          </a:prstGeom>
          <a:noFill/>
          <a:ln/>
        </p:spPr>
        <p:txBody>
          <a:bodyPr wrap="square" lIns="0" tIns="0" rIns="0" bIns="0" rtlCol="0" anchor="t"/>
          <a:lstStyle/>
          <a:p>
            <a:pPr indent="0" marL="0">
              <a:buNone/>
            </a:pPr>
            <a:r>
              <a:rPr lang="en-US" sz="800" b="1" dirty="0">
                <a:solidFill>
                  <a:srgbClr val="0F6E56"/>
                </a:solidFill>
                <a:latin typeface="Calibri" pitchFamily="34" charset="0"/>
                <a:ea typeface="Calibri" pitchFamily="34" charset="-122"/>
                <a:cs typeface="Calibri" pitchFamily="34" charset="-120"/>
              </a:rPr>
              <a:t>Compliance:</a:t>
            </a:r>
            <a:endParaRPr lang="en-US" sz="800" dirty="0"/>
          </a:p>
        </p:txBody>
      </p:sp>
      <p:sp>
        <p:nvSpPr>
          <p:cNvPr id="32" name="Text 28"/>
          <p:cNvSpPr/>
          <p:nvPr/>
        </p:nvSpPr>
        <p:spPr>
          <a:xfrm>
            <a:off x="4160520" y="3858768"/>
            <a:ext cx="1737360" cy="384048"/>
          </a:xfrm>
          <a:prstGeom prst="rect">
            <a:avLst/>
          </a:prstGeom>
          <a:noFill/>
          <a:ln/>
        </p:spPr>
        <p:txBody>
          <a:bodyPr wrap="square" lIns="0" tIns="0" rIns="0" bIns="0" rtlCol="0" anchor="t"/>
          <a:lstStyle/>
          <a:p>
            <a:pPr indent="0" marL="0">
              <a:buNone/>
            </a:pPr>
            <a:r>
              <a:rPr lang="en-US" sz="800" dirty="0">
                <a:solidFill>
                  <a:srgbClr val="334155"/>
                </a:solidFill>
                <a:latin typeface="Calibri" pitchFamily="34" charset="0"/>
                <a:ea typeface="Calibri" pitchFamily="34" charset="-122"/>
                <a:cs typeface="Calibri" pitchFamily="34" charset="-120"/>
              </a:rPr>
              <a:t>NIST CSF · FedRAMP</a:t>
            </a:r>
            <a:endParaRPr lang="en-US" sz="800" dirty="0"/>
          </a:p>
        </p:txBody>
      </p:sp>
      <p:sp>
        <p:nvSpPr>
          <p:cNvPr id="33" name="Text 29"/>
          <p:cNvSpPr/>
          <p:nvPr/>
        </p:nvSpPr>
        <p:spPr>
          <a:xfrm>
            <a:off x="3383280" y="4279392"/>
            <a:ext cx="777240" cy="384048"/>
          </a:xfrm>
          <a:prstGeom prst="rect">
            <a:avLst/>
          </a:prstGeom>
          <a:noFill/>
          <a:ln/>
        </p:spPr>
        <p:txBody>
          <a:bodyPr wrap="square" lIns="0" tIns="0" rIns="0" bIns="0" rtlCol="0" anchor="t"/>
          <a:lstStyle/>
          <a:p>
            <a:pPr indent="0" marL="0">
              <a:buNone/>
            </a:pPr>
            <a:r>
              <a:rPr lang="en-US" sz="800" b="1" dirty="0">
                <a:solidFill>
                  <a:srgbClr val="0F6E56"/>
                </a:solidFill>
                <a:latin typeface="Calibri" pitchFamily="34" charset="0"/>
                <a:ea typeface="Calibri" pitchFamily="34" charset="-122"/>
                <a:cs typeface="Calibri" pitchFamily="34" charset="-120"/>
              </a:rPr>
              <a:t>Key gaps:</a:t>
            </a:r>
            <a:endParaRPr lang="en-US" sz="800" dirty="0"/>
          </a:p>
        </p:txBody>
      </p:sp>
      <p:sp>
        <p:nvSpPr>
          <p:cNvPr id="34" name="Text 30"/>
          <p:cNvSpPr/>
          <p:nvPr/>
        </p:nvSpPr>
        <p:spPr>
          <a:xfrm>
            <a:off x="4160520" y="4279392"/>
            <a:ext cx="1737360" cy="384048"/>
          </a:xfrm>
          <a:prstGeom prst="rect">
            <a:avLst/>
          </a:prstGeom>
          <a:noFill/>
          <a:ln/>
        </p:spPr>
        <p:txBody>
          <a:bodyPr wrap="square" lIns="0" tIns="0" rIns="0" bIns="0" rtlCol="0" anchor="t"/>
          <a:lstStyle/>
          <a:p>
            <a:pPr indent="0" marL="0">
              <a:buNone/>
            </a:pPr>
            <a:r>
              <a:rPr lang="en-US" sz="800" dirty="0">
                <a:solidFill>
                  <a:srgbClr val="334155"/>
                </a:solidFill>
                <a:latin typeface="Calibri" pitchFamily="34" charset="0"/>
                <a:ea typeface="Calibri" pitchFamily="34" charset="-122"/>
                <a:cs typeface="Calibri" pitchFamily="34" charset="-120"/>
              </a:rPr>
              <a:t>5G core · OpenStack · BSS/OSS exposed · Persistent vendor VPNs</a:t>
            </a:r>
            <a:endParaRPr lang="en-US" sz="800" dirty="0"/>
          </a:p>
        </p:txBody>
      </p:sp>
      <p:sp>
        <p:nvSpPr>
          <p:cNvPr id="35" name="Shape 31"/>
          <p:cNvSpPr/>
          <p:nvPr/>
        </p:nvSpPr>
        <p:spPr>
          <a:xfrm>
            <a:off x="6172200" y="1463040"/>
            <a:ext cx="2788920" cy="3383280"/>
          </a:xfrm>
          <a:prstGeom prst="rect">
            <a:avLst/>
          </a:prstGeom>
          <a:solidFill>
            <a:srgbClr val="F8FAFC"/>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6" name="Shape 32"/>
          <p:cNvSpPr/>
          <p:nvPr/>
        </p:nvSpPr>
        <p:spPr>
          <a:xfrm>
            <a:off x="6172200" y="1463040"/>
            <a:ext cx="2788920" cy="54864"/>
          </a:xfrm>
          <a:prstGeom prst="rect">
            <a:avLst/>
          </a:prstGeom>
          <a:solidFill>
            <a:srgbClr val="2563EB"/>
          </a:solidFill>
          <a:ln w="12700">
            <a:solidFill>
              <a:srgbClr val="2563EB"/>
            </a:solidFill>
            <a:prstDash val="solid"/>
          </a:ln>
        </p:spPr>
      </p:sp>
      <p:sp>
        <p:nvSpPr>
          <p:cNvPr id="37" name="Text 33"/>
          <p:cNvSpPr/>
          <p:nvPr/>
        </p:nvSpPr>
        <p:spPr>
          <a:xfrm>
            <a:off x="6309360" y="1572768"/>
            <a:ext cx="548640" cy="548640"/>
          </a:xfrm>
          <a:prstGeom prst="rect">
            <a:avLst/>
          </a:prstGeom>
          <a:noFill/>
          <a:ln/>
        </p:spPr>
        <p:txBody>
          <a:bodyPr wrap="square" lIns="0" tIns="0" rIns="0" bIns="0" rtlCol="0" anchor="ctr"/>
          <a:lstStyle/>
          <a:p>
            <a:pPr indent="0" marL="0">
              <a:buNone/>
            </a:pPr>
            <a:r>
              <a:rPr lang="en-US" sz="2800" b="1" dirty="0">
                <a:solidFill>
                  <a:srgbClr val="2563EB"/>
                </a:solidFill>
                <a:latin typeface="Calibri" pitchFamily="34" charset="0"/>
                <a:ea typeface="Calibri" pitchFamily="34" charset="-122"/>
                <a:cs typeface="Calibri" pitchFamily="34" charset="-120"/>
              </a:rPr>
              <a:t>03</a:t>
            </a:r>
            <a:endParaRPr lang="en-US" sz="2800" dirty="0"/>
          </a:p>
        </p:txBody>
      </p:sp>
      <p:pic>
        <p:nvPicPr>
          <p:cNvPr id="38" name="Image 2" descr="preencoded.png">    </p:cNvPr>
          <p:cNvPicPr>
            <a:picLocks noChangeAspect="1"/>
          </p:cNvPicPr>
          <p:nvPr/>
        </p:nvPicPr>
        <p:blipFill>
          <a:blip r:embed="rId3"/>
          <a:stretch>
            <a:fillRect/>
          </a:stretch>
        </p:blipFill>
        <p:spPr>
          <a:xfrm>
            <a:off x="8412480" y="1627632"/>
            <a:ext cx="365760" cy="365760"/>
          </a:xfrm>
          <a:prstGeom prst="rect">
            <a:avLst/>
          </a:prstGeom>
        </p:spPr>
      </p:pic>
      <p:sp>
        <p:nvSpPr>
          <p:cNvPr id="39" name="Text 34"/>
          <p:cNvSpPr/>
          <p:nvPr/>
        </p:nvSpPr>
        <p:spPr>
          <a:xfrm>
            <a:off x="6309360" y="2148840"/>
            <a:ext cx="2514600" cy="45720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Hybrid Multi-Cloud</a:t>
            </a:r>
            <a:endParaRPr lang="en-US" sz="1500" dirty="0"/>
          </a:p>
        </p:txBody>
      </p:sp>
      <p:sp>
        <p:nvSpPr>
          <p:cNvPr id="40" name="Shape 35"/>
          <p:cNvSpPr/>
          <p:nvPr/>
        </p:nvSpPr>
        <p:spPr>
          <a:xfrm>
            <a:off x="6309360" y="2651760"/>
            <a:ext cx="2514600" cy="274320"/>
          </a:xfrm>
          <a:prstGeom prst="rect">
            <a:avLst/>
          </a:prstGeom>
          <a:solidFill>
            <a:srgbClr val="DBEAFE"/>
          </a:solidFill>
          <a:ln w="12700">
            <a:solidFill>
              <a:srgbClr val="DBEAFE"/>
            </a:solidFill>
            <a:prstDash val="solid"/>
          </a:ln>
        </p:spPr>
      </p:sp>
      <p:sp>
        <p:nvSpPr>
          <p:cNvPr id="41" name="Text 36"/>
          <p:cNvSpPr/>
          <p:nvPr/>
        </p:nvSpPr>
        <p:spPr>
          <a:xfrm>
            <a:off x="6309360" y="2651760"/>
            <a:ext cx="2514600" cy="274320"/>
          </a:xfrm>
          <a:prstGeom prst="rect">
            <a:avLst/>
          </a:prstGeom>
          <a:noFill/>
          <a:ln/>
        </p:spPr>
        <p:txBody>
          <a:bodyPr wrap="square" lIns="0" tIns="0" rIns="0" bIns="0" rtlCol="0" anchor="ctr"/>
          <a:lstStyle/>
          <a:p>
            <a:pPr algn="ctr" indent="0" marL="0">
              <a:buNone/>
            </a:pPr>
            <a:r>
              <a:rPr lang="en-US" sz="750" b="1" dirty="0">
                <a:solidFill>
                  <a:srgbClr val="2563EB"/>
                </a:solidFill>
              </a:rPr>
              <a:t>Best for: AWS · Google Cloud · Microsoft · GSIs</a:t>
            </a:r>
            <a:endParaRPr lang="en-US" sz="750" dirty="0"/>
          </a:p>
        </p:txBody>
      </p:sp>
      <p:sp>
        <p:nvSpPr>
          <p:cNvPr id="42" name="Text 37"/>
          <p:cNvSpPr/>
          <p:nvPr/>
        </p:nvSpPr>
        <p:spPr>
          <a:xfrm>
            <a:off x="6309360" y="3017520"/>
            <a:ext cx="777240" cy="384048"/>
          </a:xfrm>
          <a:prstGeom prst="rect">
            <a:avLst/>
          </a:prstGeom>
          <a:noFill/>
          <a:ln/>
        </p:spPr>
        <p:txBody>
          <a:bodyPr wrap="square" lIns="0" tIns="0" rIns="0" bIns="0" rtlCol="0" anchor="t"/>
          <a:lstStyle/>
          <a:p>
            <a:pPr indent="0" marL="0">
              <a:buNone/>
            </a:pPr>
            <a:r>
              <a:rPr lang="en-US" sz="800" b="1" dirty="0">
                <a:solidFill>
                  <a:srgbClr val="0F6E56"/>
                </a:solidFill>
                <a:latin typeface="Calibri" pitchFamily="34" charset="0"/>
                <a:ea typeface="Calibri" pitchFamily="34" charset="-122"/>
                <a:cs typeface="Calibri" pitchFamily="34" charset="-120"/>
              </a:rPr>
              <a:t>Environment:</a:t>
            </a:r>
            <a:endParaRPr lang="en-US" sz="800" dirty="0"/>
          </a:p>
        </p:txBody>
      </p:sp>
      <p:sp>
        <p:nvSpPr>
          <p:cNvPr id="43" name="Text 38"/>
          <p:cNvSpPr/>
          <p:nvPr/>
        </p:nvSpPr>
        <p:spPr>
          <a:xfrm>
            <a:off x="7086600" y="3017520"/>
            <a:ext cx="1737360" cy="384048"/>
          </a:xfrm>
          <a:prstGeom prst="rect">
            <a:avLst/>
          </a:prstGeom>
          <a:noFill/>
          <a:ln/>
        </p:spPr>
        <p:txBody>
          <a:bodyPr wrap="square" lIns="0" tIns="0" rIns="0" bIns="0" rtlCol="0" anchor="t"/>
          <a:lstStyle/>
          <a:p>
            <a:pPr indent="0" marL="0">
              <a:buNone/>
            </a:pPr>
            <a:r>
              <a:rPr lang="en-US" sz="800" dirty="0">
                <a:solidFill>
                  <a:srgbClr val="334155"/>
                </a:solidFill>
                <a:latin typeface="Calibri" pitchFamily="34" charset="0"/>
                <a:ea typeface="Calibri" pitchFamily="34" charset="-122"/>
                <a:cs typeface="Calibri" pitchFamily="34" charset="-120"/>
              </a:rPr>
              <a:t>Financial services / Hybrid cloud</a:t>
            </a:r>
            <a:endParaRPr lang="en-US" sz="800" dirty="0"/>
          </a:p>
        </p:txBody>
      </p:sp>
      <p:sp>
        <p:nvSpPr>
          <p:cNvPr id="44" name="Text 39"/>
          <p:cNvSpPr/>
          <p:nvPr/>
        </p:nvSpPr>
        <p:spPr>
          <a:xfrm>
            <a:off x="6309360" y="3438144"/>
            <a:ext cx="777240" cy="384048"/>
          </a:xfrm>
          <a:prstGeom prst="rect">
            <a:avLst/>
          </a:prstGeom>
          <a:noFill/>
          <a:ln/>
        </p:spPr>
        <p:txBody>
          <a:bodyPr wrap="square" lIns="0" tIns="0" rIns="0" bIns="0" rtlCol="0" anchor="t"/>
          <a:lstStyle/>
          <a:p>
            <a:pPr indent="0" marL="0">
              <a:buNone/>
            </a:pPr>
            <a:r>
              <a:rPr lang="en-US" sz="800" b="1" dirty="0">
                <a:solidFill>
                  <a:srgbClr val="0F6E56"/>
                </a:solidFill>
                <a:latin typeface="Calibri" pitchFamily="34" charset="0"/>
                <a:ea typeface="Calibri" pitchFamily="34" charset="-122"/>
                <a:cs typeface="Calibri" pitchFamily="34" charset="-120"/>
              </a:rPr>
              <a:t>Tools:</a:t>
            </a:r>
            <a:endParaRPr lang="en-US" sz="800" dirty="0"/>
          </a:p>
        </p:txBody>
      </p:sp>
      <p:sp>
        <p:nvSpPr>
          <p:cNvPr id="45" name="Text 40"/>
          <p:cNvSpPr/>
          <p:nvPr/>
        </p:nvSpPr>
        <p:spPr>
          <a:xfrm>
            <a:off x="7086600" y="3438144"/>
            <a:ext cx="1737360" cy="384048"/>
          </a:xfrm>
          <a:prstGeom prst="rect">
            <a:avLst/>
          </a:prstGeom>
          <a:noFill/>
          <a:ln/>
        </p:spPr>
        <p:txBody>
          <a:bodyPr wrap="square" lIns="0" tIns="0" rIns="0" bIns="0" rtlCol="0" anchor="t"/>
          <a:lstStyle/>
          <a:p>
            <a:pPr indent="0" marL="0">
              <a:buNone/>
            </a:pPr>
            <a:r>
              <a:rPr lang="en-US" sz="800" dirty="0">
                <a:solidFill>
                  <a:srgbClr val="334155"/>
                </a:solidFill>
                <a:latin typeface="Calibri" pitchFamily="34" charset="0"/>
                <a:ea typeface="Calibri" pitchFamily="34" charset="-122"/>
                <a:cs typeface="Calibri" pitchFamily="34" charset="-120"/>
              </a:rPr>
              <a:t>Traditional Firewall · SIEM · IDS/IPS</a:t>
            </a:r>
            <a:endParaRPr lang="en-US" sz="800" dirty="0"/>
          </a:p>
        </p:txBody>
      </p:sp>
      <p:sp>
        <p:nvSpPr>
          <p:cNvPr id="46" name="Text 41"/>
          <p:cNvSpPr/>
          <p:nvPr/>
        </p:nvSpPr>
        <p:spPr>
          <a:xfrm>
            <a:off x="6309360" y="3858768"/>
            <a:ext cx="777240" cy="384048"/>
          </a:xfrm>
          <a:prstGeom prst="rect">
            <a:avLst/>
          </a:prstGeom>
          <a:noFill/>
          <a:ln/>
        </p:spPr>
        <p:txBody>
          <a:bodyPr wrap="square" lIns="0" tIns="0" rIns="0" bIns="0" rtlCol="0" anchor="t"/>
          <a:lstStyle/>
          <a:p>
            <a:pPr indent="0" marL="0">
              <a:buNone/>
            </a:pPr>
            <a:r>
              <a:rPr lang="en-US" sz="800" b="1" dirty="0">
                <a:solidFill>
                  <a:srgbClr val="0F6E56"/>
                </a:solidFill>
                <a:latin typeface="Calibri" pitchFamily="34" charset="0"/>
                <a:ea typeface="Calibri" pitchFamily="34" charset="-122"/>
                <a:cs typeface="Calibri" pitchFamily="34" charset="-120"/>
              </a:rPr>
              <a:t>Compliance:</a:t>
            </a:r>
            <a:endParaRPr lang="en-US" sz="800" dirty="0"/>
          </a:p>
        </p:txBody>
      </p:sp>
      <p:sp>
        <p:nvSpPr>
          <p:cNvPr id="47" name="Text 42"/>
          <p:cNvSpPr/>
          <p:nvPr/>
        </p:nvSpPr>
        <p:spPr>
          <a:xfrm>
            <a:off x="7086600" y="3858768"/>
            <a:ext cx="1737360" cy="384048"/>
          </a:xfrm>
          <a:prstGeom prst="rect">
            <a:avLst/>
          </a:prstGeom>
          <a:noFill/>
          <a:ln/>
        </p:spPr>
        <p:txBody>
          <a:bodyPr wrap="square" lIns="0" tIns="0" rIns="0" bIns="0" rtlCol="0" anchor="t"/>
          <a:lstStyle/>
          <a:p>
            <a:pPr indent="0" marL="0">
              <a:buNone/>
            </a:pPr>
            <a:r>
              <a:rPr lang="en-US" sz="800" dirty="0">
                <a:solidFill>
                  <a:srgbClr val="334155"/>
                </a:solidFill>
                <a:latin typeface="Calibri" pitchFamily="34" charset="0"/>
                <a:ea typeface="Calibri" pitchFamily="34" charset="-122"/>
                <a:cs typeface="Calibri" pitchFamily="34" charset="-120"/>
              </a:rPr>
              <a:t>PCI-DSS · SOC 2 · GDPR</a:t>
            </a:r>
            <a:endParaRPr lang="en-US" sz="800" dirty="0"/>
          </a:p>
        </p:txBody>
      </p:sp>
      <p:sp>
        <p:nvSpPr>
          <p:cNvPr id="48" name="Text 43"/>
          <p:cNvSpPr/>
          <p:nvPr/>
        </p:nvSpPr>
        <p:spPr>
          <a:xfrm>
            <a:off x="6309360" y="4279392"/>
            <a:ext cx="777240" cy="384048"/>
          </a:xfrm>
          <a:prstGeom prst="rect">
            <a:avLst/>
          </a:prstGeom>
          <a:noFill/>
          <a:ln/>
        </p:spPr>
        <p:txBody>
          <a:bodyPr wrap="square" lIns="0" tIns="0" rIns="0" bIns="0" rtlCol="0" anchor="t"/>
          <a:lstStyle/>
          <a:p>
            <a:pPr indent="0" marL="0">
              <a:buNone/>
            </a:pPr>
            <a:r>
              <a:rPr lang="en-US" sz="800" b="1" dirty="0">
                <a:solidFill>
                  <a:srgbClr val="0F6E56"/>
                </a:solidFill>
                <a:latin typeface="Calibri" pitchFamily="34" charset="0"/>
                <a:ea typeface="Calibri" pitchFamily="34" charset="-122"/>
                <a:cs typeface="Calibri" pitchFamily="34" charset="-120"/>
              </a:rPr>
              <a:t>Key gaps:</a:t>
            </a:r>
            <a:endParaRPr lang="en-US" sz="800" dirty="0"/>
          </a:p>
        </p:txBody>
      </p:sp>
      <p:sp>
        <p:nvSpPr>
          <p:cNvPr id="49" name="Text 44"/>
          <p:cNvSpPr/>
          <p:nvPr/>
        </p:nvSpPr>
        <p:spPr>
          <a:xfrm>
            <a:off x="7086600" y="4279392"/>
            <a:ext cx="1737360" cy="384048"/>
          </a:xfrm>
          <a:prstGeom prst="rect">
            <a:avLst/>
          </a:prstGeom>
          <a:noFill/>
          <a:ln/>
        </p:spPr>
        <p:txBody>
          <a:bodyPr wrap="square" lIns="0" tIns="0" rIns="0" bIns="0" rtlCol="0" anchor="t"/>
          <a:lstStyle/>
          <a:p>
            <a:pPr indent="0" marL="0">
              <a:buNone/>
            </a:pPr>
            <a:r>
              <a:rPr lang="en-US" sz="800" dirty="0">
                <a:solidFill>
                  <a:srgbClr val="334155"/>
                </a:solidFill>
                <a:latin typeface="Calibri" pitchFamily="34" charset="0"/>
                <a:ea typeface="Calibri" pitchFamily="34" charset="-122"/>
                <a:cs typeface="Calibri" pitchFamily="34" charset="-120"/>
              </a:rPr>
              <a:t>AWS + Azure · No CSPM · Permissive IAM · Unencrypted S3 buckets</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5029200" y="-1371600"/>
            <a:ext cx="6400800" cy="6400800"/>
          </a:xfrm>
          <a:prstGeom prst="ellipse">
            <a:avLst/>
          </a:prstGeom>
          <a:solidFill>
            <a:srgbClr val="091A14"/>
          </a:solidFill>
          <a:ln w="12700">
            <a:solidFill>
              <a:srgbClr val="091A14"/>
            </a:solidFill>
            <a:prstDash val="solid"/>
          </a:ln>
        </p:spPr>
      </p:sp>
      <p:sp>
        <p:nvSpPr>
          <p:cNvPr id="3" name="Shape 1"/>
          <p:cNvSpPr/>
          <p:nvPr/>
        </p:nvSpPr>
        <p:spPr>
          <a:xfrm>
            <a:off x="457200" y="365760"/>
            <a:ext cx="1463040" cy="292608"/>
          </a:xfrm>
          <a:prstGeom prst="rect">
            <a:avLst/>
          </a:prstGeom>
          <a:solidFill>
            <a:srgbClr val="0F6E56"/>
          </a:solidFill>
          <a:ln w="12700">
            <a:solidFill>
              <a:srgbClr val="0F6E56"/>
            </a:solidFill>
            <a:prstDash val="solid"/>
          </a:ln>
        </p:spPr>
      </p:sp>
      <p:sp>
        <p:nvSpPr>
          <p:cNvPr id="4" name="Text 2"/>
          <p:cNvSpPr/>
          <p:nvPr/>
        </p:nvSpPr>
        <p:spPr>
          <a:xfrm>
            <a:off x="457200" y="365760"/>
            <a:ext cx="1463040" cy="292608"/>
          </a:xfrm>
          <a:prstGeom prst="rect">
            <a:avLst/>
          </a:prstGeom>
          <a:noFill/>
          <a:ln/>
        </p:spPr>
        <p:txBody>
          <a:bodyPr wrap="square" lIns="0" tIns="0" rIns="0" bIns="0" rtlCol="0" anchor="ctr"/>
          <a:lstStyle/>
          <a:p>
            <a:pPr algn="ctr" indent="0" marL="0">
              <a:buNone/>
            </a:pPr>
            <a:r>
              <a:rPr lang="en-US" sz="750" b="1" spc="100" kern="0" dirty="0">
                <a:solidFill>
                  <a:srgbClr val="FFFFFF"/>
                </a:solidFill>
              </a:rPr>
              <a:t>LIVE DEMO AVAILABLE</a:t>
            </a:r>
            <a:endParaRPr lang="en-US" sz="750" dirty="0"/>
          </a:p>
        </p:txBody>
      </p:sp>
      <p:sp>
        <p:nvSpPr>
          <p:cNvPr id="5" name="Text 3"/>
          <p:cNvSpPr/>
          <p:nvPr/>
        </p:nvSpPr>
        <p:spPr>
          <a:xfrm>
            <a:off x="457200" y="914400"/>
            <a:ext cx="640080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Try it now</a:t>
            </a:r>
            <a:endParaRPr lang="en-US" sz="4400" dirty="0"/>
          </a:p>
        </p:txBody>
      </p:sp>
      <p:sp>
        <p:nvSpPr>
          <p:cNvPr id="6" name="Text 4">
            <a:hlinkClick r:id="rId1" tooltip=""/>
          </p:cNvPr>
          <p:cNvSpPr/>
          <p:nvPr/>
        </p:nvSpPr>
        <p:spPr>
          <a:xfrm>
            <a:off x="457200" y="1828800"/>
            <a:ext cx="6400800" cy="502920"/>
          </a:xfrm>
          <a:prstGeom prst="rect">
            <a:avLst/>
          </a:prstGeom>
          <a:noFill/>
          <a:ln/>
        </p:spPr>
        <p:txBody>
          <a:bodyPr wrap="square" lIns="0" tIns="0" rIns="0" bIns="0" rtlCol="0" anchor="ctr"/>
          <a:lstStyle/>
          <a:p>
            <a:pPr indent="0" marL="0">
              <a:buNone/>
            </a:pPr>
            <a:r>
              <a:rPr lang="en-US" sz="1800" u="sng" dirty="0">
                <a:solidFill>
                  <a:srgbClr val="C9A84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danvzla.github.io/agentpm-security-advisor</a:t>
            </a:r>
            <a:endParaRPr lang="en-US" sz="1800" dirty="0"/>
          </a:p>
        </p:txBody>
      </p:sp>
      <p:sp>
        <p:nvSpPr>
          <p:cNvPr id="7" name="Text 5"/>
          <p:cNvSpPr/>
          <p:nvPr/>
        </p:nvSpPr>
        <p:spPr>
          <a:xfrm>
            <a:off x="457200" y="2423160"/>
            <a:ext cx="6400800" cy="36576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Open in any browser · Enter your Anthropic API key · Load a scenario · Analyze</a:t>
            </a:r>
            <a:endParaRPr lang="en-US" sz="1100" dirty="0"/>
          </a:p>
        </p:txBody>
      </p:sp>
      <p:sp>
        <p:nvSpPr>
          <p:cNvPr id="8" name="Shape 6"/>
          <p:cNvSpPr/>
          <p:nvPr/>
        </p:nvSpPr>
        <p:spPr>
          <a:xfrm>
            <a:off x="457200" y="2926080"/>
            <a:ext cx="2286000" cy="45720"/>
          </a:xfrm>
          <a:prstGeom prst="rect">
            <a:avLst/>
          </a:prstGeom>
          <a:solidFill>
            <a:srgbClr val="0F6E56"/>
          </a:solidFill>
          <a:ln w="12700">
            <a:solidFill>
              <a:srgbClr val="0F6E56"/>
            </a:solidFill>
            <a:prstDash val="solid"/>
          </a:ln>
        </p:spPr>
      </p:sp>
      <p:sp>
        <p:nvSpPr>
          <p:cNvPr id="9" name="Text 7"/>
          <p:cNvSpPr/>
          <p:nvPr/>
        </p:nvSpPr>
        <p:spPr>
          <a:xfrm>
            <a:off x="457200" y="3108960"/>
            <a:ext cx="4572000" cy="4114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Daniel Mazzini</a:t>
            </a:r>
            <a:endParaRPr lang="en-US" sz="2000" dirty="0"/>
          </a:p>
        </p:txBody>
      </p:sp>
      <p:sp>
        <p:nvSpPr>
          <p:cNvPr id="10" name="Text 8"/>
          <p:cNvSpPr/>
          <p:nvPr/>
        </p:nvSpPr>
        <p:spPr>
          <a:xfrm>
            <a:off x="457200" y="3566160"/>
            <a:ext cx="6400800" cy="3200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Principal Architect &amp; Senior TPM  ·  Cloud &amp; Infrastructure  ·  Telco  ·  Automation</a:t>
            </a:r>
            <a:endParaRPr lang="en-US" sz="1100" dirty="0"/>
          </a:p>
        </p:txBody>
      </p:sp>
      <p:sp>
        <p:nvSpPr>
          <p:cNvPr id="11" name="Text 9"/>
          <p:cNvSpPr/>
          <p:nvPr/>
        </p:nvSpPr>
        <p:spPr>
          <a:xfrm>
            <a:off x="457200" y="3931920"/>
            <a:ext cx="6858000" cy="32004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danvzla@gmail.com  ·  +1 678-428-3789  ·  Coppell, TX  ·  Bilingual: English &amp; Spanish</a:t>
            </a:r>
            <a:endParaRPr lang="en-US" sz="1000" dirty="0"/>
          </a:p>
        </p:txBody>
      </p:sp>
      <p:sp>
        <p:nvSpPr>
          <p:cNvPr id="12" name="Text 10">
            <a:hlinkClick r:id="rId2" tooltip=""/>
          </p:cNvPr>
          <p:cNvSpPr/>
          <p:nvPr/>
        </p:nvSpPr>
        <p:spPr>
          <a:xfrm>
            <a:off x="457200" y="4297680"/>
            <a:ext cx="4572000" cy="274320"/>
          </a:xfrm>
          <a:prstGeom prst="rect">
            <a:avLst/>
          </a:prstGeom>
          <a:noFill/>
          <a:ln/>
        </p:spPr>
        <p:txBody>
          <a:bodyPr wrap="square" lIns="0" tIns="0" rIns="0" bIns="0" rtlCol="0" anchor="ctr"/>
          <a:lstStyle/>
          <a:p>
            <a:pPr indent="0" marL="0">
              <a:buNone/>
            </a:pPr>
            <a:r>
              <a:rPr lang="en-US" sz="1000" u="sng" dirty="0">
                <a:solidFill>
                  <a:srgbClr val="C9A84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linkedin.com/in/daniel-mazzini-22059734</a:t>
            </a:r>
            <a:endParaRPr lang="en-US" sz="1000" dirty="0"/>
          </a:p>
        </p:txBody>
      </p:sp>
      <p:sp>
        <p:nvSpPr>
          <p:cNvPr id="13" name="Shape 11"/>
          <p:cNvSpPr/>
          <p:nvPr/>
        </p:nvSpPr>
        <p:spPr>
          <a:xfrm>
            <a:off x="7132320" y="4480560"/>
            <a:ext cx="1737360" cy="502920"/>
          </a:xfrm>
          <a:prstGeom prst="rect">
            <a:avLst/>
          </a:prstGeom>
          <a:solidFill>
            <a:srgbClr val="0F6E56"/>
          </a:solidFill>
          <a:ln w="12700">
            <a:solidFill>
              <a:srgbClr val="0F6E56"/>
            </a:solidFill>
            <a:prstDash val="solid"/>
          </a:ln>
        </p:spPr>
      </p:sp>
      <p:sp>
        <p:nvSpPr>
          <p:cNvPr id="14" name="Text 12"/>
          <p:cNvSpPr/>
          <p:nvPr/>
        </p:nvSpPr>
        <p:spPr>
          <a:xfrm>
            <a:off x="7132320" y="4480560"/>
            <a:ext cx="1737360" cy="502920"/>
          </a:xfrm>
          <a:prstGeom prst="rect">
            <a:avLst/>
          </a:prstGeom>
          <a:noFill/>
          <a:ln/>
        </p:spPr>
        <p:txBody>
          <a:bodyPr wrap="square" lIns="0" tIns="0" rIns="0" bIns="0" rtlCol="0" anchor="ctr"/>
          <a:lstStyle/>
          <a:p>
            <a:pPr algn="ctr" indent="0" marL="0">
              <a:buNone/>
            </a:pPr>
            <a:r>
              <a:rPr lang="en-US" sz="900" b="1" dirty="0">
                <a:solidFill>
                  <a:srgbClr val="FFFFFF"/>
                </a:solidFill>
              </a:rPr>
              <a:t>AgentPM  ·  Agent 1 of 4</a:t>
            </a:r>
            <a:endParaRPr lang="en-US" sz="900" dirty="0"/>
          </a:p>
        </p:txBody>
      </p:sp>
      <p:pic>
        <p:nvPicPr>
          <p:cNvPr id="15" name="Image 0" descr="preencoded.png">    </p:cNvPr>
          <p:cNvPicPr>
            <a:picLocks noChangeAspect="1"/>
          </p:cNvPicPr>
          <p:nvPr/>
        </p:nvPicPr>
        <p:blipFill>
          <a:blip r:embed="rId3">
            <a:alphaModFix amt="80000"/>
          </a:blip>
          <a:stretch>
            <a:fillRect/>
          </a:stretch>
        </p:blipFill>
        <p:spPr>
          <a:xfrm>
            <a:off x="6858000" y="1097280"/>
            <a:ext cx="2011680" cy="20116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Network Security Advisor — AgentPM</dc:title>
  <dc:subject>PptxGenJS Presentation</dc:subject>
  <dc:creator>Daniel Mazzini</dc:creator>
  <cp:lastModifiedBy>Daniel Mazzini</cp:lastModifiedBy>
  <cp:revision>1</cp:revision>
  <dcterms:created xsi:type="dcterms:W3CDTF">2026-06-07T02:55:03Z</dcterms:created>
  <dcterms:modified xsi:type="dcterms:W3CDTF">2026-06-07T02:55:03Z</dcterms:modified>
</cp:coreProperties>
</file>